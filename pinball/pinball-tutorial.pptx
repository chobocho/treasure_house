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E8ECFF"/>
                </a:solidFill>
                <a:latin typeface="Malgun Gothic"/>
              </a:rPr>
              <a:t>바닐라 자바스크립트 Canvas 핀볼 게임 제작</a:t>
            </a:r>
          </a:p>
          <a:p>
            <a:r>
              <a:rPr sz="2200" b="0">
                <a:solidFill>
                  <a:srgbClr val="5B8CFF"/>
                </a:solidFill>
                <a:latin typeface="Malgun Gothic"/>
              </a:rPr>
              <a:t>벡터와 삼각함수로 완성하는 2D 물리 시뮬레이션 — 전체 코드 포함 완전판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9FB0E8"/>
                </a:solidFill>
                <a:latin typeface="Malgun Gothic"/>
              </a:rPr>
              <a:t>HTML5 Canvas · Vanilla JavaScript (라이브러리 0개)</a:t>
            </a:r>
          </a:p>
          <a:p>
            <a:r>
              <a:rPr sz="1500" b="0">
                <a:solidFill>
                  <a:srgbClr val="9FB0E8"/>
                </a:solidFill>
                <a:latin typeface="Malgun Gothic"/>
              </a:rPr>
              <a:t>벡터 연산 · 삼각함수 · 반사 공식 · 원-선분 충돌 · 플리퍼 강체 역학</a:t>
            </a:r>
          </a:p>
          <a:p>
            <a:r>
              <a:rPr sz="1500" b="0">
                <a:solidFill>
                  <a:srgbClr val="9FB0E8"/>
                </a:solidFill>
                <a:latin typeface="Malgun Gothic"/>
              </a:rPr>
              <a:t>완전히 동작하는 전체 소스 코드 수록 (pinball.html)</a:t>
            </a:r>
          </a:p>
          <a:p>
            <a:r>
              <a:rPr sz="1500" b="0">
                <a:solidFill>
                  <a:srgbClr val="9FB0E8"/>
                </a:solidFill>
                <a:latin typeface="Malgun Gothic"/>
              </a:rPr>
              <a:t>작성일: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F5B942"/>
                </a:solidFill>
                <a:latin typeface="Consolas"/>
              </a:rPr>
              <a:t>01  </a:t>
            </a:r>
            <a:r>
              <a:rPr sz="1600" b="0">
                <a:solidFill>
                  <a:srgbClr val="E8ECFF"/>
                </a:solidFill>
                <a:latin typeface="Malgun Gothic"/>
              </a:rPr>
              <a:t>소개와 개발 환경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F5B942"/>
                </a:solidFill>
                <a:latin typeface="Consolas"/>
              </a:rPr>
              <a:t>03  </a:t>
            </a:r>
            <a:r>
              <a:rPr sz="1600" b="0">
                <a:solidFill>
                  <a:srgbClr val="E8ECFF"/>
                </a:solidFill>
                <a:latin typeface="Malgun Gothic"/>
              </a:rPr>
              <a:t>게임 루프와 시간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F5B942"/>
                </a:solidFill>
                <a:latin typeface="Consolas"/>
              </a:rPr>
              <a:t>05  </a:t>
            </a:r>
            <a:r>
              <a:rPr sz="1600" b="0">
                <a:solidFill>
                  <a:srgbClr val="E8ECFF"/>
                </a:solidFill>
                <a:latin typeface="Malgun Gothic"/>
              </a:rPr>
              <a:t>삼각함수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F5B942"/>
                </a:solidFill>
                <a:latin typeface="Consolas"/>
              </a:rPr>
              <a:t>07  </a:t>
            </a:r>
            <a:r>
              <a:rPr sz="1600" b="0">
                <a:solidFill>
                  <a:srgbClr val="E8ECFF"/>
                </a:solidFill>
                <a:latin typeface="Malgun Gothic"/>
              </a:rPr>
              <a:t>충돌 감지와 응답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F5B942"/>
                </a:solidFill>
                <a:latin typeface="Consolas"/>
              </a:rPr>
              <a:t>09  </a:t>
            </a:r>
            <a:r>
              <a:rPr sz="1600" b="0">
                <a:solidFill>
                  <a:srgbClr val="E8ECFF"/>
                </a:solidFill>
                <a:latin typeface="Malgun Gothic"/>
              </a:rPr>
              <a:t>테이블 구성과 게임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F5B942"/>
                </a:solidFill>
                <a:latin typeface="Consolas"/>
              </a:rPr>
              <a:t>02  </a:t>
            </a:r>
            <a:r>
              <a:rPr sz="1600" b="0">
                <a:solidFill>
                  <a:srgbClr val="E8ECFF"/>
                </a:solidFill>
                <a:latin typeface="Malgun Gothic"/>
              </a:rPr>
              <a:t>Canvas 기초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F5B942"/>
                </a:solidFill>
                <a:latin typeface="Consolas"/>
              </a:rPr>
              <a:t>04  </a:t>
            </a:r>
            <a:r>
              <a:rPr sz="1600" b="0">
                <a:solidFill>
                  <a:srgbClr val="E8ECFF"/>
                </a:solidFill>
                <a:latin typeface="Malgun Gothic"/>
              </a:rPr>
              <a:t>벡터 수학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F5B942"/>
                </a:solidFill>
                <a:latin typeface="Consolas"/>
              </a:rPr>
              <a:t>06  </a:t>
            </a:r>
            <a:r>
              <a:rPr sz="1600" b="0">
                <a:solidFill>
                  <a:srgbClr val="E8ECFF"/>
                </a:solidFill>
                <a:latin typeface="Malgun Gothic"/>
              </a:rPr>
              <a:t>물리 시뮬레이션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F5B942"/>
                </a:solidFill>
                <a:latin typeface="Consolas"/>
              </a:rPr>
              <a:t>08  </a:t>
            </a:r>
            <a:r>
              <a:rPr sz="1600" b="0">
                <a:solidFill>
                  <a:srgbClr val="E8ECFF"/>
                </a:solidFill>
                <a:latin typeface="Malgun Gothic"/>
              </a:rPr>
              <a:t>플리퍼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이 자료의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1부(이론): Canvas, 게임 루프, 벡터, 삼각함수 — 게임을 만들기 위한 수학적 기초를 다진다.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2부(물리): 적분, 충돌 감지, 반사, 플리퍼 역학 — 핀볼의 핵심 물리를 유도하고 코드로 옮긴다.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3부(구현): 테이블 구성, 전체 소스 코드 워크스루, 함수별 심화 해설.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4부(발전): 테스트, 디버깅, 최적화, 확장 아이디어.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모든 코드는 pinball.html 한 파일에 담겨 있으며 브라우저에서 바로 실행된다.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구성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완성 게임 스펙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480×800 세로형 테이블, 60fps requestAnimationFrame 루프.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 1개, 플리퍼 2개(좌/우), 범퍼 3개, 슬링샷 2개, 스프링 발사 레인.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물리: 중력, 반발계수, 공기저항, 서브스텝 4회로 터널링 방지.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수학: 벡터 내적/정규화/반사, 원-선분 최근접점, 회전행렬, ω×r 표면속도.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조작: ←/→ (또는 Z, /) 플리퍼, SPACE 길게 눌러 발사, 공 3개 소진 시 게임 오버.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구성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B942"/>
                </a:solidFill>
                <a:latin typeface="Malgun Gothic"/>
              </a:rPr>
              <a:t>CHAPTER 01</a:t>
            </a:r>
          </a:p>
          <a:p>
            <a:pPr>
              <a:spcBef>
                <a:spcPts val="1400"/>
              </a:spcBef>
            </a:pPr>
            <a:r>
              <a:rPr sz="4000" b="1">
                <a:solidFill>
                  <a:srgbClr val="E8ECFF"/>
                </a:solidFill>
                <a:latin typeface="Malgun Gothic"/>
              </a:rPr>
              <a:t>소개와 개발 환경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9FB0E8"/>
                </a:solidFill>
                <a:latin typeface="Malgun Gothic"/>
              </a:rPr>
              <a:t>왜 핀볼인가, 무엇을 배우는가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Chapter 1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왜 핀볼 게임인가?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학습 목표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기술 스택 — 정말 '바닐라'다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사전 지식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프로젝트 구조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완성 게임 조작법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학습 로드맵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이 자료를 읽는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 · 소개와 개발 환경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왜 핀볼 게임인가?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핀볼은 2D 게임 물리의 거의 모든 주제를 한 화면에 담고 있는 교과서다.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중력·반발·감쇠 — 연속적인 힘과 적분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벽·범퍼·플리퍼 — 원, 선분, 회전체와의 충돌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발사 스프링·점수 — 게임 상태 관리와 UI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외부 라이브러리 없이 순수 자바스크립트만으로 물리 엔진의 원리를 밑바닥부터 이해할 수 있다.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완성 코드는 약 500줄 — 하나의 HTML 파일로 어디서든 실행된다.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 · 소개와 개발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벡터(Vec2) 클래스를 직접 설계하고 내적·정규화·반사를 코드로 구현한다.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삼각함수(sin, cos, atan2)로 회전하는 플리퍼와 곡면 벽을 만든다.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반암시적 오일러 적분으로 중력과 속도를 시뮬레이션한다.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원-원, 원-선분 충돌을 감지하고 침투를 해소한다.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requestAnimationFrame 기반 게임 루프와 delta time을 다룬다.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 · 소개와 개발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기술 스택 — 정말 '바닐라'다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HTML5 &lt;canvas&gt; 요소와 2D 렌더링 컨텍스트만 사용한다.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빌드 도구 없음: 번들러, 트랜스파일러, npm 패키지 전부 불필요.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물리 엔진 없음: matter.js, box2d 같은 라이브러리를 쓰지 않고 직접 만든다.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필요한 것: 텍스트 에디터와 모던 브라우저(Chrome, Edge, Firefox, Safari) 하나.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ES2020+ 문법(클래스, 화살표 함수, ||= 등)을 사용하므로 최신 브라우저 권장.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 · 소개와 개발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사전 지식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자바스크립트 기초: 변수, 함수, 클래스, 배열 메서드(forEach, map).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중학교 수준 수학: 피타고라스 정리, 좌표평면.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고등학교 수준 수학: sin/cos의 정의 — 잊었어도 4~5장에서 처음부터 다시 다룬다.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물리는 몰라도 된다: 필요한 개념(속도, 가속도, 반발)은 모두 6장에서 설명한다.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 · 소개와 개발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프로젝트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pinball.html 파일 하나가 전부다.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&lt;style&gt; — 캔버스 중앙 배치와 배경색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&lt;canvas id="game" width="480" height="800"&gt; — 게임 화면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&lt;script&gt; — 약 500줄의 게임 전체 코드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코드 내부는 4개 구역: ① 벡터 유틸리티 ② 게임 상수 ③ 게임 오브젝트(공/벽/범퍼/플리퍼/슬링샷) ④ Game 본체.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브라우저에서 파일을 더블클릭하면 바로 실행된다 — 서버도 필요 없다.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 · 소개와 개발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완성 게임 조작법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SPACE 길게 누르기: 발사 게이지 충전, 떼면 발사.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← 또는 Z: 왼쪽 플리퍼.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→ 또는 / : 오른쪽 플리퍼.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 3개를 모두 잃으면 GAME OVER, SPACE로 재시작.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범퍼 100~150점, 슬링샷 30점.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 · 소개와 개발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학습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2~3장: 그리기와 시간 — Canvas API, 게임 루프, delta time.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4~5장: 수학 — 벡터 연산과 삼각함수. 이 자료의 심장부.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6~8장: 물리 — 적분, 충돌, 반사, 플리퍼 역학.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9~11장: 조립 — 테이블 구성과 전체 코드 정독.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12~14장: 프로 되기 — 테스트, 최적화, 확장.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 · 소개와 개발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이 자료를 읽는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수식 슬라이드(금색 박스)는 반드시 손으로 한 번 따라 써 보길 권한다.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코드 슬라이드(검은 박스)의 초록색 줄은 주석이다.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각 장 끝의 '연습문제'는 코드를 직접 수정해 보는 과제다.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10장의 전체 코드 워크스루는 앞 장들을 모두 읽은 뒤 보는 것이 가장 효과적이다.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 · 소개와 개발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B942"/>
                </a:solidFill>
                <a:latin typeface="Malgun Gothic"/>
              </a:rPr>
              <a:t>CHAPTER 02</a:t>
            </a:r>
          </a:p>
          <a:p>
            <a:pPr>
              <a:spcBef>
                <a:spcPts val="1400"/>
              </a:spcBef>
            </a:pPr>
            <a:r>
              <a:rPr sz="4000" b="1">
                <a:solidFill>
                  <a:srgbClr val="E8ECFF"/>
                </a:solidFill>
                <a:latin typeface="Malgun Gothic"/>
              </a:rPr>
              <a:t>Canvas 기초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9FB0E8"/>
                </a:solidFill>
                <a:latin typeface="Malgun Gothic"/>
              </a:rPr>
              <a:t>픽셀을 다루는 도화지 — 게임 화면의 모든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Chapter 2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&lt;canvas&gt; 요소란?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캔버스 준비 코드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width/height 속성 vs CSS 크기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캔버스 좌표계 — y축이 아래로!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사각형 API — 가장 단순한 도형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경로(Path) API — 자유 곡선의 기본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공 그리기 — arc()와 원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스타일 속성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그라디언트 — 공의 입체감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10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공의 금속 질감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텍스트 API — HUD 만들기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변환(Transform) API — 이 게임에서 안 쓴 이유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save() / restore()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즉시 모드 렌더링의 핵심 규칙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고해상도(레티나) 디스플레이 대응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렌더링 성능 기초 상식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우리 게임이 쓰는 Canvas API 총정리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[연습] Canvas 손풀기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2장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&lt;canvas&gt; 요소란?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HTML5가 도입한 비트맵 도화지. 자바스크립트로 픽셀 단위 그리기가 가능하다.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DOM 요소를 움직이는 방식과 달리, 매 프레임 전체를 다시 그리는 즉시 모드(immediate mode) 렌더링.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게임처럼 수십 개 객체가 매 프레임 움직이는 경우 DOM보다 훨씬 빠르고 단순하다.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게임: &lt;canvas id="game" width="480" height="800"&gt;&lt;/canvas&gt;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캔버스 준비 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0E8"/>
                </a:solidFill>
                <a:latin typeface="Malgun Gothic"/>
              </a:rPr>
              <a:t>getContext("2d") 가 반환하는 ctx 객체가 모든 그리기의 창구다.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789920" cy="452628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&lt;canvas id="game" width="480" height="800"&gt;&lt;/canvas&gt;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&lt;script&gt;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const canvas = document.getElementById("game");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const ctx = canvas.getContext("2d");   // 2D 렌더링 컨텍스트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ctx.fillStyle = "#e2534f";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ctx.fillRect(10, 10, 100, 50);         // (10,10)에 100×50 사각형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&lt;/script&gt;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width/height 속성 vs CSS 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width/height HTML 속성 = 실제 픽셀 버퍼의 크기(논리 해상도).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CSS width/height = 화면에 표시되는 크기. 둘이 다르면 늘어나 보인다.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게임은 속성으로 480×800을 지정하고 CSS는 건드리지 않아 1:1 매칭.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흐릿하게 보인다면 대부분 CSS로만 크기를 키웠기 때문이다.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캔버스 좌표계 — y축이 아래로!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원점 (0,0)은 왼쪽 위 모서리.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x는 오른쪽으로 증가 — 수학과 같다.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y는 아래로 증가 — 수학 좌표계와 반대! 이것이 게임 수학의 최대 함정.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따라서 중력은 +y 방향: GRAVITY = new Vec2(0, 1400).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각도의 회전 방향도 화면상 시계 방향이 양수가 된다(5장에서 자세히).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사각형 API — 가장 단순한 도형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fillRect(x, y, w, h): 채운 사각형. 발사 게이지 바에 사용.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strokeRect(x, y, w, h): 테두리만.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clearRect(x, y, w, h): 해당 영역을 투명하게 지운다.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매 프레임 시작에 ctx.clearRect(0, 0, W, H)로 전체 화면을 지우고 다시 그린다.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경로(Path) API — 자유 곡선의 기본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beginPath(): 새 경로 시작. 잊으면 이전 도형과 이어져 버린다(대표적 버그).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moveTo(x, y): 펜을 떼서 이동.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lineTo(x, y): 현재 위치에서 직선 경로 추가.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arc(x, y, r, start, end): 원호 경로 추가.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closePath(): 시작점으로 닫기(선택).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경로를 만든 뒤 fill() 또는 stroke()를 호출해야 실제로 그려진다.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공 그리기 — arc()와 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0E8"/>
                </a:solidFill>
                <a:latin typeface="Malgun Gothic"/>
              </a:rPr>
              <a:t>arc의 각도 단위는 '라디안'. 2π = 360°. 5장에서 자세히 다룬다.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789920" cy="452628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// 원 = 중심 (x,y), 반지름 r, 0 ~ 2π 라디안의 호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ctx.beginPath();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ctx.arc(ball.pos.x, ball.pos.y, BALL_RADIUS, 0, Math.PI * 2);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ctx.fill();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// 벽(선분) 그리기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ctx.beginPath();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ctx.moveTo(wall.a.x, wall.a.y);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ctx.lineTo(wall.b.x, wall.b.y);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ctx.stroke();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스타일 속성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fillStyle / strokeStyle: 색. "#f5b942", "rgba(255,0,0,.5)" 등 CSS 색 문법 그대로.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lineWidth: 선 두께(px). 우리 벽은 4, 플리퍼는 20.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lineCap: "round"로 하면 선 끝이 둥글어진다 — 플리퍼가 캡슐처럼 보이는 이유.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스타일은 상태로 유지된다: 한 번 설정하면 바꿀 때까지 모든 도형에 적용.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그라디언트 — 공의 입체감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createRadialGradient(x0,y0,r0, x1,y1,r1): 원형 그라디언트 객체 생성.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addColorStop(위치 0~1, 색)으로 색 지점을 추가.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공: 중심에서 살짝 왼쪽 위(-4,-4)에 흰색 하이라이트 → 금속 공 느낌.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그라디언트 생성은 비용이 있으므로 성능이 아쉬우면 캐싱을 고려(13장).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공의 금속 질감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const g = ctx.createRadialGradient(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this.pos.x - 4, this.pos.y - 4, 2,   // 하이라이트 중심(작은 원)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this.pos.x, this.pos.y, BALL_RADIUS  // 공 전체(큰 원)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g.addColorStop(0, "#ffffff");   // 중심: 흰색 하이라이트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g.addColorStop(1, "#8a94b8");   // 가장자리: 어두운 은색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ctx.fillStyle = g;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ctx.beginPath();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ctx.arc(this.pos.x, this.pos.y, BALL_RADIUS, 0, Math.PI * 2);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ctx.fill();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텍스트 API — HUD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font: CSS font 축약형. 예: "bold 22px monospace".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fillText(문자열, x, y): 텍스트 그리기. y는 베이스라인 기준.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textAlign: "left" | "center" | "right" — x 기준점이 바뀐다.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점수는 왼쪽 정렬, 남은 공은 오른쪽 정렬, 안내 문구는 가운데 정렬로 사용.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변환(Transform) API — 이 게임에서 안 쓴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translate/rotate/scale로 좌표계 자체를 옮기고 돌릴 수 있다.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회전체를 그릴 때 자주 쓰지만, 우리는 플리퍼 끝점을 삼각함수로 직접 계산한다.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이유: 그리기뿐 아니라 '충돌 계산'에도 같은 끝점 좌표가 필요하기 때문.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변환은 그리기에만 적용되고 수학 계산에는 적용되지 않는다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수학을 한 곳(tip() 메서드)에서 처리하면 그리기와 물리가 항상 일치한다.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save() / restore()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캔버스 상태(스타일, 변환, 클리핑)를 스택에 저장/복원한다.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복잡한 장면에서 상태 오염을 막는 표준 패턴.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게임은 상태 변경이 단순해 매번 명시적으로 스타일을 지정하는 쪽을 택했다.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규칙: save/restore를 쓰든, 매번 스타일을 다시 지정하든 하나만 일관되게.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즉시 모드 렌더링의 핵심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캔버스에는 '객체'가 없다 — 그려진 픽셀만 있다.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공을 움직이려면: 지우고(clearRect) → 새 위치에 다시 그린다.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따라서 게임 상태(위치, 속도)는 반드시 자바스크립트 객체로 따로 관리한다.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그리기 순서 = 쌓이는 순서: 나중에 그린 것이 위에 보인다.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우리 순서: 벽 → 슬링샷 → 범퍼 → 플리퍼 → 공 → HUD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고해상도(레티나) 디스플레이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devicePixelRatio(DPR)가 2면 CSS 1px에 실제 픽셀 4개가 들어간다.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선명하게 하려면: canvas.width = 표시폭 × DPR, ctx.scale(DPR, DPR).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튜토리얼은 단순함을 위해 DPR 처리를 생략했다 — 13장 최적화에서 확장 과제로.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렌더링 성능 기초 상식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그리기 호출(draw call) 수를 줄이는 것이 기본. 도형 30~40개 수준인 우리 게임은 여유롭다.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beginPath 없이 stroke를 반복하면 경로가 누적되어 점점 느려진다 — 주의.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shadowBlur는 매우 비싸다. 광택 효과는 그라디언트로 대신하는 것이 좋다.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화면 밖 도형도 그리기 비용이 든다. 컬링(culling)은 13장에서.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우리 게임이 쓰는 Canvas API 총정리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getContext("2d") — 컨텍스트 획득 (1회).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clearRect — 매 프레임 화면 지우기.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beginPath / arc / fill — 공, 범퍼.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beginPath / moveTo / lineTo / stroke — 벽, 플리퍼, 슬링샷.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fillRect — 발사 게이지.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fillText / font / textAlign — 점수, 안내 문구, 게임 오버 화면.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createRadialGradient — 공의 입체감.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이게 전부다. 14개 남짓의 API로 핀볼이 완성된다.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[연습] Canvas 손풀기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1: 캔버스에 자신의 이니셜을 fillText로 그려 보라.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2: arc를 사용해 반원(0 ~ π)만 그려 보고, 시계/반시계 방향 인자를 바꿔 보라.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3: 100×100 사각형을 매 프레임 x+1씩 이동시키되, clearRect를 빼면 어떻게 되는지 관찰하라.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4: 공 그라디언트의 하이라이트 위치(-4,-4)를 (+4,+4)로 바꾸면 조명이 어디서 오는 것처럼 보이는가?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2장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캔버스는 픽셀 도화지 — 상태는 JS 객체로, 화면은 매 프레임 다시 그린다.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y축은 아래로 증가한다. 중력이 +y인 이유.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원은 arc, 선분은 moveTo/lineTo, 반드시 beginPath로 시작.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그리기 순서가 z-순서다.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다음 장: '매 프레임'을 만들어 주는 게임 루프.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2 · Canvas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B942"/>
                </a:solidFill>
                <a:latin typeface="Malgun Gothic"/>
              </a:rPr>
              <a:t>CHAPTER 03</a:t>
            </a:r>
          </a:p>
          <a:p>
            <a:pPr>
              <a:spcBef>
                <a:spcPts val="1400"/>
              </a:spcBef>
            </a:pPr>
            <a:r>
              <a:rPr sz="4000" b="1">
                <a:solidFill>
                  <a:srgbClr val="E8ECFF"/>
                </a:solidFill>
                <a:latin typeface="Malgun Gothic"/>
              </a:rPr>
              <a:t>게임 루프와 시간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9FB0E8"/>
                </a:solidFill>
                <a:latin typeface="Malgun Gothic"/>
              </a:rPr>
              <a:t>requestAnimationFrame 과 delta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Chapter 3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게임 루프란?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setInterval이 아니라 requestAnimationFrame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게임 루프의 골격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delta time(dt)이 필요한 이유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시간 기반 이동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dt 클램프 — 죽음의 나선 방지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고정 timestep vs 가변 timestep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update와 render의 분리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performance.now() vs Date.now()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10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입력 처리 — 이벤트와 상태 플래그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입력 → 플래그 → update 패턴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프레임 하나의 전체 흐름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[연습] 게임 루프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3장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3 · 게임 루프와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게임 루프란?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모든 실시간 게임의 뼈대: 입력 처리 → 상태 갱신(update) → 그리기(render)를 무한 반복.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초당 60회 반복되면 60fps — 사람 눈에 부드러운 움직임으로 보인다.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핵심 질문 두 가지: ① 언제 반복할 것인가 ② 한 번에 시간이 얼마나 흘렀다고 볼 것인가.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3 · 게임 루프와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setInterval이 아니라 requestAnimationFrame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setInterval(fn, 16)은 모니터 주사율과 어긋나 화면 찢김·버벅임이 생긴다.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requestAnimationFrame(rAF)은 브라우저의 다음 화면 갱신 직전에 콜백을 실행한다.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60Hz 모니터면 약 16.7ms마다, 144Hz면 약 6.9ms마다 호출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탭이 백그라운드로 가면 자동으로 멈춰 배터리를 아낀다.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rAF는 1회용이다 — 콜백 안에서 다시 rAF를 호출해야 루프가 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3 · 게임 루프와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게임 루프의 골격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0E8"/>
                </a:solidFill>
                <a:latin typeface="Malgun Gothic"/>
              </a:rPr>
              <a:t>생성자에서 this.last = performance.now() 로 초기화 후 첫 rAF를 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789920" cy="452628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frame(now) {                      // now: 브라우저가 넘겨주는 ms 타임스탬프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let dt = Math.min((now - this.last) / 1000, 1 / 30);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this.last = now;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this.update(dt);                // 물리·게임 상태 갱신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this.render();                  // 화면 다시 그리기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requestAnimationFrame(t =&gt; this.frame(t));   // 다음 프레임 예약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3 · 게임 루프와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delta time(dt)이 필요한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프레임마다 '지난번 이후 흐른 시간'은 일정하지 않다 — 60Hz와 144Hz 모니터, 렉 걸린 순간 모두 다르다.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이동량을 '프레임당 5px'로 하드코딩하면 144Hz 사용자에겐 2.4배 빠른 게임이 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해결: 이동량 = 속도(px/초) × dt(초). 어떤 주사율에서도 같은 속도.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게임의 모든 물리량은 초 단위: 중력 1400px/s², 발사 속도 최대 1600px/s.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3 · 게임 루프와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시간 기반 이동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69164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새 위치 = 현재 위치 + 속도 × dt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pos = pos + vel · 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dt는 초 단위(ms를 1000으로 나눔).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60fps라면 dt ≈ 0.0167초 → 속도 600px/s인 공은 프레임당 약 10px 이동.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이 식이 바로 6장에서 배울 '오일러 적분'의 한 줄이다.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3 · 게임 루프와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dt 클램프 — 죽음의 나선 방지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탭을 오래 벗어났다 돌아오면 dt가 수 초가 될 수 있다.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그대로 적분하면 공이 한 번에 수천 px 이동 → 벽을 뚫고 우주로.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해결: dt = Math.min(실제 경과, 1/30). 최악에도 33ms 프레임으로 취급.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결과: 렉이 걸리면 게임이 느려질 뿐, 물리가 깨지지는 않는다.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3 · 게임 루프와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고정 timestep vs 가변 timestep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가변(우리 방식): dt를 그대로 사용. 구현이 단순하고 대부분의 캐주얼 게임에 충분.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고정: 물리를 항상 일정 dt(예: 1/120초)로 여러 번 돌리고 남는 시간은 이월. 완전한 재현성.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네트워크 동기화나 리플레이가 필요하면 고정이 정답.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우리는 가변 + 서브스텝(dt를 4등분)의 절충안을 쓴다 — 6장에서 상세히.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3 · 게임 루프와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update와 render의 분리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update(dt): 물리, 충돌, 점수 — '세계의 진실'을 갱신. 그리기 코드가 없다.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render(): 현재 상태를 화면에 표현만 한다. 상태를 바꾸지 않는다.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분리의 이점 ① 테스트: 캔버스 없이도 update만 돌려 물리를 검증할 수 있다(12장).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분리의 이점 ② 유연성: 렌더러를 WebGL로 교체해도 물리는 그대로.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3 · 게임 루프와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performance.now() vs Date.now()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performance.now(): 페이지 로드 기준 ms, 소수점 이하 마이크로초 정밀도, 단조 증가 보장.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Date.now(): 벽시계 시간. OS 시간 동기화로 갑자기 튈 수 있다 — 게임 루프에 부적합.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rAF 콜백의 인자(now)는 performance.now()와 같은 시간축이라 그대로 쓰면 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3 · 게임 루프와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입력 처리 — 이벤트와 상태 플래그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keydown/keyup 이벤트는 '언제 눌렸나'만 알려준다 — 프레임과 비동기.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패턴: 이벤트에서는 플래그만 세팅(flipper.pressed = true), 실제 반응은 update에서.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e.repeat 체크: 키를 꾹 누르면 OS가 keydown을 연사하므로 첫 이벤트만 받는다.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패턴 덕분에 '스페이스를 누르는 동안 게이지 충전'이 자연스럽게 구현된다.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3 · 게임 루프와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입력 → 플래그 → update 패턴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addEventListener("keydown", e =&gt;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if (e.repeat) return;                       // 키 반복 무시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if (e.code === "ArrowLeft") this.flippers[0].pressed = true;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if (e.code === "Space" &amp;&amp; !this.ball.inPlay) this.charging = true;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});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addEventListener("keyup", e =&gt;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if (e.code === "ArrowLeft") this.flippers[0].pressed = false;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if (e.code === "Space" &amp;&amp; this.charging) {  // 뗄 때 발사!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this.ball.vel = new Vec2(0, -(700 + 900 * this.launchPower));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this.ball.inPlay = true;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});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3 · 게임 루프와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프레임 하나의 전체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① rAF가 frame(now) 호출.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② dt 계산 및 클램프.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③ update: 게이지 충전 → 플리퍼/범퍼/슬링샷 상태 → 공 물리(서브스텝 4회: 적분+충돌) → 드레인 판정.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④ render: 화면 지우기 → 벽/슬링샷/범퍼/플리퍼/공 → 게이지 → HUD → (게임오버 오버레이).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⑤ 다음 rAF 예약. 이 다섯 단계가 초당 60번 반복된다.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3 · 게임 루프와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[연습] 게임 루프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1: dt에 ×0.25를 곱해 슬로모션 모드를 만들어 보라. 디버깅에 대단히 유용하다.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2: 프레임마다 dt를 콘솔에 찍어 자신의 모니터 주사율을 추정해 보라.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3: dt 클램프(1/30)를 제거하고 탭을 10초 벗어났다 돌아와 보라. 무엇이 깨지는가?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3 · 게임 루프와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3장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루프는 rAF로: 주사율 동기화, 백그라운드 자동 정지.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모든 움직임은 속도 × dt — 주사율 독립성의 핵심.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dt는 반드시 클램프한다(우리는 최대 1/30초).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update(상태)와 render(표현)를 분리하면 테스트가 가능해진다.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다음 장: 속도와 위치를 표현할 언어, 벡터.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3 · 게임 루프와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B942"/>
                </a:solidFill>
                <a:latin typeface="Malgun Gothic"/>
              </a:rPr>
              <a:t>CHAPTER 04</a:t>
            </a:r>
          </a:p>
          <a:p>
            <a:pPr>
              <a:spcBef>
                <a:spcPts val="1400"/>
              </a:spcBef>
            </a:pPr>
            <a:r>
              <a:rPr sz="4000" b="1">
                <a:solidFill>
                  <a:srgbClr val="E8ECFF"/>
                </a:solidFill>
                <a:latin typeface="Malgun Gothic"/>
              </a:rPr>
              <a:t>벡터 수학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9FB0E8"/>
                </a:solidFill>
                <a:latin typeface="Malgun Gothic"/>
              </a:rPr>
              <a:t>게임 물리의 언어 — Vec2 클래스 완전 정복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Chapter 4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벡터란 무엇인가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왜 벡터로 코드를 짜는가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Vec2 클래스의 뼈대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불변(immutable) 스타일 — 설계 결정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벡터 덧셈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덧셈이 게임에서 하는 일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벡터 뺄셈 = 상대 위치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스칼라배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벡터의 길이 (피타고라스)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10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lenSq() — sqrt를 피하는 최적화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정규화 (Normalize)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정규화의 함정 — 0벡터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내적 (Dot Product)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내적의 부호 읽는 법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내적으로 하는 투영 (Projection)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투영 직관 훈련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수직 벡터 perp()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2D 외적 (Cross Product)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반사 공식 유도 ① — 속도의 분해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20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반사 공식 유도 ② — 완전 탄성 반사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반발계수를 포함한 최종 반사 공식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reflect() — 게임 물리의 심장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vn &gt;= 0 가드가 막아주는 버그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게임 속 벡터 사용처 지도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예제 풀이 ① 범퍼 법선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예제 풀이 ② 내적으로 접근 판정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[퀴즈] 벡터 기본기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[퀴즈] 반사 공식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[연습] Vec2 확장하기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30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4장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벡터란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크기와 방향을 함께 갖는 양. 화살표로 그린다.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게임에서의 용도: 위치(원점에서의 화살표), 속도(1초당 이동 화살표), 힘, 법선….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스칼라는 크기만 갖는 수(질량 5, 점수 100). 벡터와 구분하는 것이 출발점.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2D 게임의 벡터는 성분 두 개짜리 순서쌍: v = (x, 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왜 벡터로 코드를 짜는가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x, y를 따로 다루면: ball.vx += gx*dt; ball.vy += gy*dt; — 모든 식을 두 번씩 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벡터로 다루면: ball.vel = ball.vel.add(GRAVITY.scale(dt)); — 수학책의 식과 코드가 1:1.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충돌 반사 같은 공식은 성분별로 풀어 쓰면 알아볼 수 없게 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버그의 절반은 'x는 고쳤는데 y는 빼먹은' 비대칭에서 온다 — 벡터가 원천 차단.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Vec2 클래스의 뼈대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0E8"/>
                </a:solidFill>
                <a:latin typeface="Malgun Gothic"/>
              </a:rPr>
              <a:t>게임 전체가 이 클래스 하나 위에 서 있다. 이 장에서 한 메서드씩 해부한다.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789920" cy="452628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class Vec2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constructor(x = 0, y = 0) { this.x = x; this.y = y; 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add(v)   { return new Vec2(this.x + v.x, this.y + v.y); 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sub(v)   { return new Vec2(this.x - v.x, this.y - v.y); 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scale(s) { return new Vec2(this.x * s, this.y * s); 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dot(v)   { return this.x * v.x + this.y * v.y; 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len()    { return Math.hypot(this.x, this.y); 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norm()   { const l = this.len();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         return l &gt; 1e-9 ? this.scale(1 / l) : new Vec2(); 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perp()   { return new Vec2(-this.y, this.x); 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불변(immutable) 스타일 — 설계 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모든 메서드가 자신을 수정하지 않고 '새 Vec2'를 반환한다.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장점: a.add(b)가 a를 바꾸지 않으므로 수식처럼 안전하게 체이닝 가능.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ball.vel.sub(surfaceVel) 를 계산해도 ball.vel은 그대로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단점: 프레임마다 작은 객체가 많이 생성된다 — GC 부담(13장에서 완화책).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교육용·중소규모 게임엔 불변이 압도적으로 버그가 적다. 우리의 선택.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벡터 덧셈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18872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a + b = (aₓ + bₓ, a_y + b_y)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기하학적 의미: a 화살표 끝에 b 화살표를 이어 붙인 결과.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물리적 의미: 이동의 누적. '속도에 중력을 더한다', '위치에 이동량을 더한다'.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교환법칙 성립: a + b = b + 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덧셈이 게임에서 하는 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위치 갱신: pos = pos.add(vel.scale(dt)) — 매 프레임의 핵심 한 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속도 갱신: vel = vel.add(GRAVITY.scale(dt)) — 중력이 속도를 조금씩 아래로 민다.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침투 해소: pos = pos.add(n.scale(깊이)) — 벽에 박힌 공을 법선 방향으로 밀어낸다.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덧셈만으로 '적분'과 '충돌 응답'의 절반이 끝난다.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벡터 뺄셈 = 상대 위치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18872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b − a = 'a에서 b를 향하는 화살표'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게임에서 가장 많이 쓰는 연산. '무엇에서 무엇을 향하는 방향'은 전부 뺄셈이다.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공 − 범퍼중심 = 범퍼가 공을 밀어낼 방향(법선).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공 − 최근접점 = 벽이 공을 밀어낼 방향.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머리로 외우는 법: '도착지 − 출발지'.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스칼라배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18872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s·v = (s·vₓ, s·v_y)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방향은 유지(음수면 반대), 길이만 s배.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GRAVITY.scale(dt): '초당 가속도'를 '이번 프레임 몫'으로 축소.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n.scale(BALL_RADIUS - dist): 단위 법선을 침투 깊이만큼 늘려 보정 벡터로.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vel.scale(0.999): 공기저항 — 매 프레임 0.1%씩 감속.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벡터의 길이 (피타고라스)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18872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|v| = √(vₓ² + v_y²)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속도 벡터의 길이 = 속력(스칼라). 방향을 버리고 크기만 남긴다.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코드: Math.hypot(x, y) — x*x+y*y의 sqrt보다 오버플로에 안전하고 읽기 좋다.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쓰임: 최고 속도 제한, 충돌 거리 판정, '공이 거의 멈췄나' 판단.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lenSq() — sqrt를 피하는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제곱근은 곱셈보다 느리다. 비교만 할 거면 제곱끼리 비교해도 결과가 같다.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|v| &lt; r  ⇔  |v|² &lt; r²  (양수끼리는 순서 보존)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closestPointOnSegment에서 ab.lenSq()로 나누는 것도 같은 이유(길이의 제곱이 필요).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습관: 거리 '비교'는 lenSq, 거리 '값'이 필요할 때만 len.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정규화 (Normalize)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18872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v̂ = v / |v|,   |v̂| =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방향은 그대로, 길이를 1로 만든 '단위 벡터'.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왜 필요한가: '방향'과 '크기'를 분리해서 다루기 위해.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예: 법선 방향으로 정확히 420px/s — n̂.scale(420)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반사 공식의 n은 반드시 단위 벡터여야 한다. 아니면 반사가 과장/축소된다.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정규화의 함정 — 0벡터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길이가 0인 벡터는 방향이 없다. 0으로 나누면 NaN — 물리 전체가 오염된다.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NaN은 전염된다: NaN과의 모든 연산이 NaN. 공이 화면에서 사라지는 미스터리 버그의 주범.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코드: l &gt; 1e-9 체크 후 아니면 영벡터 반환.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충돌 코드에도 dist &lt; 1e-9 가드가 있다 — 공 중심이 벽 위에 '정확히' 올라간 극단 케이스.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내적 (Dot Product)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18872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a · b = aₓbₓ + a_yb_y = |a||b|cosθ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두 정의가 같다는 것이 내적의 기적 — 좌표 계산 두 번의 곱셈으로 '각도 정보'를 얻는다.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θ는 두 벡터 사이의 각.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결과는 벡터가 아니라 스칼라(숫자) 하나다.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내적의 부호 읽는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a·b &gt; 0: 두 벡터가 대체로 같은 방향(θ &lt; 90°).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a·b = 0: 정확히 수직(θ = 90°).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a·b &lt; 0: 대체로 반대 방향(θ &gt; 90°).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핀볼에서: vel·n &lt; 0 이면 '공이 표면을 향해 들어오는 중' → 반사해야 함.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vel·n ≥ 0 이면 이미 떠나는 중 → 건드리면 오히려 표면에 다시 붙는 버그가 생긴다.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내적으로 하는 투영 (Projection)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69164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a의 b방향 성분 = (a · b̂) b̂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성분 크기 = a · b̂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a를 b 방향 성분과 수직 성분으로 분해할 수 있다.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b̂가 단위 벡터일 때 a·b̂ 는 'a의 그림자 길이'.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핀볼에서의 두 사용처: ① 최근접점 계산(7장) ② 반사 공식 유도(이번 장).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투영 직관 훈련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태양이 b̂ 방향에 수직으로 비출 때 a 화살표의 그림자가 투영이다.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속도 (300, 400)이고 법선이 (0, -1)이면: vel·n = -400.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해석: 표면을 향해 400px/s로 접근 중 (부호가 방향, 크기가 속도)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가로 성분 300은 법선과 수직이라 내적에 전혀 기여하지 않는다.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분해 능력이 반사 공식을 이해하는 열쇠다.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수직 벡터 perp()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18872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perp(v) = (−v_y, vₓ)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v를 90° 회전한 벡터. 길이는 그대로.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확인: v·perp(v) = x(−y) + yx = 0 — 항상 수직.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쓰임 ① 선분의 법선: 선분 방향 d의 perp가 벽의 법선 후보.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쓰임 ② 회전 속도: 원운동하는 점의 속도 방향은 반지름의 perp (8장 플리퍼).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2D 외적 (Cross Product)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18872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a × b = aₓb_y − a_yb_x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2D에서는 스칼라 하나가 나온다(3D 외적의 z성분).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부호의 의미: b가 a의 왼쪽에 있으면 +, 오른쪽이면 − (좌표계 기준).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쓰임: 점이 선의 어느 쪽인지 판정, 회전 방향 판단.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우리 게임에선 직접 쓰진 않지만 Vec2에 포함 — 확장(공 스핀) 시 필수가 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반사 공식 유도 ① — 속도의 분해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공이 법선 n̂(단위벡터)인 표면에 속도 v로 충돌한다.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v를 두 성분으로 나눈다: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법선 성분 v_n = (v·n̂)n̂ — 표면을 뚫고 들어가는 성분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접선 성분 v_t = v − v_n — 표면을 따라 미끄러지는 성분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반사의 본질: 접선 성분은 그대로, 법선 성분만 뒤집는다.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반사 공식 유도 ② — 완전 탄성 반사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새 속도 v' = v_t − v_n  (접선 유지, 법선 반전)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대입: v' = (v − v_n) − v_n = v − 2v_n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따라서 v' = v − 2(v·n̂)n̂ — 거울 반사 공식.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에너지 손실이 없는 이상적인 반사. 현실의 공은 튕길 때마다 조금씩 죽는다 → 반발계수.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반발계수를 포함한 최종 반사 공식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18872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v' = v − (1 + e)(v·n̂)n̂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e = 1: 완전 탄성(2를 곱하는 거울 반사와 동일).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e = 0: 법선 성분 완전 소멸 — 공이 표면에 '철퍼덕' 붙어 미끄러지기만 한다.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우리 게임: 벽 0.55, 플리퍼 0.35, 범퍼 1.15(!) — 1보다 크면 에너지를 얻는다.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범퍼가 공을 '쏘아 보내는' 비결이 바로 e &gt; 1 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reflect() — 게임 물리의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0E8"/>
                </a:solidFill>
                <a:latin typeface="Malgun Gothic"/>
              </a:rPr>
              <a:t>세 줄이 전부다. 벽, 범퍼, 슬링샷, 플리퍼가 전부 이 함수 하나로 튕긴다.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789920" cy="452628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/* 반사 공식: v' = v - (1+e)(v·n)n  (n은 단위 법선, e는 반발계수) */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function reflect(v, n, e)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vn = v.dot(n);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if (vn &gt;= 0) return v;   // 이미 표면에서 멀어지는 중이면 그대로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return v.sub(n.scale((1 + e) * vn));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vn &gt;= 0 가드가 막아주는 버그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충돌 판정은 '겹침'으로 하므로, 반사 직후 프레임에도 아직 겹쳐 있을 수 있다.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가드가 없으면: 떠나는 공을 또 반사 → 공이 표면으로 유턴 → 다시 반사 → 무한 진동.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증상: 공이 벽에 붙어 부들부들 떨거나, 벽 속으로 파고든다.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'멀어지는 중이면 손대지 않는다'는 물리 엔진의 보편 원칙이다.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게임 속 벡터 사용처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pos, vel — 공의 상태 (위치·속도).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GRAVITY — 상수 가속도 벡터.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b − a, sub — 법선 방향, 상대 위치 계산 전부.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dot — 접근/이탈 판정, 투영, 최근접점.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norm — 모든 충돌 법선의 단위화.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perp — 플리퍼 표면 속도의 방향.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scale — dt 적분, 침투 보정, 속도 제한.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예제 풀이 ① 범퍼 법선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범퍼 중심 (215, 340), 공 중심 (245, 300)일 때 밀어낼 방향은?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d = 공 − 범퍼 = (30, −40).  |d| = √(900+1600) = 50.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n̂ = d/50 = (0.6, −0.8) — 오른쪽 위 방향으로 밀어낸다.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침투 해소: 공 위치 = 범퍼중심 + n̂ × (범퍼r + 공r) — 정확히 접하는 위치로 이동.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예제 풀이 ② 내적으로 접근 판정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바닥 법선 n̂ = (0, −1), 공 속도 v = (200, 500).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v·n̂ = 200×0 + 500×(−1) = −500 &lt; 0 → 접근 중, 반사 필요.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반사(e=0.55): v' = v − 1.55×(−500)×(0,−1) = (200, 500) + (0, −775) = (200, −275).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검산: 가로 200 유지(접선), 세로는 500 → −275 = 500×0.55 반전. 공식이 살아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[퀴즈] 벡터 기본기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Q1. a=(3,4)의 길이는? 정규화하면?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Q2. (5,2)·(−2,5) 는? 두 벡터의 관계는?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Q3. '범퍼에서 공을 향하는 방향'은 어느 뺄셈인가?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A1. 5, (0.6, 0.8)   A2. 0, 수직   A3. 공위치 − 범퍼위치 (도착지−출발지).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[퀴즈] 반사 공식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Q1. e=1, v=(4,3), n̂=(0,−1) 일 때 v'는?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Q2. e=0 이면 공은 표면에서 어떻게 되는가?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Q3. reflect에서 vn ≥ 0 이면 왜 그냥 반환하는가?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A1. (4,−3)   A2. 법선 성분이 죽고 접선으로만 미끄러진다   A3. 이미 떠나는 공을 재반사하면 표면에 붙는 진동 버그가 생기므로.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[연습] Vec2 확장하기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1: dist(v) — 두 점 사이 거리 메서드를 추가하라 (this.sub(v).len()).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2: lerp(v, t) — 두 벡터 사이 선형 보간을 구현하라. 카메라·이펙트에 필수.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3: clampLen(max) — 길이가 max를 넘으면 줄이는 메서드로 MAX_SPEED 로직을 옮겨 보라.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4: reflect의 e에 1.5를 넣고 벽에 적용해 보라. 게임이 어떻게 미쳐가는지 관찰하라.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4장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벡터 = 크기 + 방향. 게임 물리의 모든 상태와 연산의 언어.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뺄셈은 '도착지 − 출발지' — 법선과 상대위치의 근원.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내적 하나로 각도·투영·접근판정을 모두 해결한다.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반사 공식 v' = v − (1+e)(v·n̂)n̂ 은 이 게임 물리의 심장.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0벡터 정규화와 재반사를 가드하라 — NaN과 진동 버그의 예방주사.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다음 장: 회전의 언어, 삼각함수.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4 · 벡터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B942"/>
                </a:solidFill>
                <a:latin typeface="Malgun Gothic"/>
              </a:rPr>
              <a:t>CHAPTER 05</a:t>
            </a:r>
          </a:p>
          <a:p>
            <a:pPr>
              <a:spcBef>
                <a:spcPts val="1400"/>
              </a:spcBef>
            </a:pPr>
            <a:r>
              <a:rPr sz="4000" b="1">
                <a:solidFill>
                  <a:srgbClr val="E8ECFF"/>
                </a:solidFill>
                <a:latin typeface="Malgun Gothic"/>
              </a:rPr>
              <a:t>삼각함수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9FB0E8"/>
                </a:solidFill>
                <a:latin typeface="Malgun Gothic"/>
              </a:rPr>
              <a:t>회전하는 모든 것 — 플리퍼, 아치, 각속도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Chapter 5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핀볼에서 삼각함수가 필요한 순간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각도의 두 단위 — 도(°)와 라디안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도 ↔ 라디안 변환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단위원 — sin과 cos의 정의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캔버스에서 각도의 방향 — 주의!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극좌표 → 직교좌표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fromAngle과 rotate — Vec2의 삼각함수 도구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회전행렬 유도 ① — 기저의 회전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회전행렬 유도 ② — 최종 공식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10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atan2 — 각도를 되찾는 함수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플리퍼의 기하학적 모델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플리퍼 끝점 공식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오른쪽 플리퍼는 왜 148°인가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각속도 ω — 회전의 속도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각속도와 선속도의 관계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곡선 벽 만들기 — 호의 선분 근사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아치 벽 생성 코드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세그먼트 개수의 트레이드오프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발사 레인과 아치의 합작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20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삼각함수로 만드는 부가 효과들 (아이디어)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[퀴즈] 삼각함수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[퀴즈] 각속도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[연습] 삼각함수 실습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5장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핀볼에서 삼각함수가 필요한 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플리퍼: 피벗을 중심으로 '각도'가 변하는 막대 — 끝점 좌표가 매 프레임 필요하다.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상단 아치: 곡선 벽 — 원 위의 점들을 계산해 선분으로 근사한다.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발사·이펙트: '이 각도로 이만큼' 나아가는 모든 것.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공통점: '각도와 거리(극좌표)'를 '화면 좌표(x, y)'로 바꿔야 한다 — 그 변환기가 sin/cos다.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각도의 두 단위 — 도(°)와 라디안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도: 한 바퀴 = 360°. 사람에게 익숙하다.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라디안: 한 바퀴 = 2π ≈ 6.283. '반지름 몇 개 길이의 호를 감았나'.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자바스크립트 Math의 모든 삼각함수는 라디안만 받는다. canvas arc()도 라디안.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코드: 사람이 읽는 곳은 도로 쓰고 즉시 변환한다 — const D = Math.PI/180; 32*D.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도 ↔ 라디안 변환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69164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rad = deg × π / 180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deg = rad × 180 / 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암기용 기준점: 180° = π, 90° = π/2, 360° = 2π.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32° ≈ 0.559 rad (우리 플리퍼의 대기 각도).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코드 팁: 변환 상수를 D라는 이름으로 한 번만 정의하면 오타가 사라진다.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단위원 — sin과 cos의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반지름 1인 원 위에서 각도 θ만큼 돈 점의 좌표가 (cosθ, sinθ)다. 이것이 '정의'.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cosθ = 점의 x좌표, sinθ = 점의 y좌표. 삼각형 암기보다 이 그림이 실전적이다.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θ=0: (1,0) 오른쪽.  θ=90°: (0,1).  θ=180°: (−1,0) 왼쪽.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반지름이 r이면 좌표는 (r·cosθ, r·sinθ) — 곧바로 플리퍼 끝점 공식이 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캔버스에서 각도의 방향 — 주의!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수학책: y가 위, 각도는 반시계 방향으로 증가.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캔버스: y가 '아래', 그래서 화면상 각도는 '시계 방향'으로 증가한다.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θ=90°의 점 (0,1)은 캔버스에서 '아래쪽'이다.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왼쪽 플리퍼: 대기 +32°(끝점이 오른쪽 '아래'), 작동 −34°(오른쪽 '위') — 이 규칙 그대로.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혼란스러울 땐 항상 '작은 각도를 넣고 어디에 그려지나' 실험하는 것이 최고다.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극좌표 → 직교좌표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69164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x = r·cosθ,   y = r·sinθ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Vec2.fromAngle(θ, r) = (r·cosθ, r·sinθ)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'각도 θ 방향으로 거리 r' 을 화면 좌표로 바꾸는 만능 공식.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플리퍼 끝점, 아치 벽 정점, 파티클 분사 — 전부 이 한 줄.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역변환은 r = |v|, θ = atan2(y, x).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fromAngle과 rotate — Vec2의 삼각함수 도구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// 극좌표 → 직교좌표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static fromAngle(theta, len = 1)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return new Vec2(Math.cos(theta) * len, Math.sin(theta) * len);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// 회전행렬 [cosθ -sinθ; sinθ cosθ] 를 이용한 회전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rotate(theta)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c = Math.cos(theta), s = Math.sin(theta);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return new Vec2(this.x * c - this.y * s,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              this.x * s + this.y * c);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angle() { return Math.atan2(this.y, this.x); }  // 벡터 → 방향각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회전행렬 유도 ① — 기저의 회전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점 (x, y)는 x·(1,0) + y·(0,1) — 두 기본 화살표의 조합이다.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좌표계를 θ만큼 돌리면 기본 화살표가 이렇게 움직인다: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(1,0) → (cosθ, sinθ)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(0,1) → (−sinθ, cosθ)  (90° 앞선 위치)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따라서 회전 결과 = x·(cosθ, sinθ) + y·(−sinθ, cosθ).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회전행렬 유도 ② — 최종 공식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69164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x' = x·cosθ − y·sinθ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y' = x·sinθ + y·cosθ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rotate() 코드의 두 줄과 정확히 일치한다.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θ=90° 대입: (x, y) → (−y, x) — perp()와 같다! perp는 rotate(90°)의 특수화였던 것.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cos/sin을 지역변수 c, s에 캐싱하는 것은 관용구 — 두 번 계산하지 않는다.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atan2 — 각도를 되찾는 함수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atan(y/x)의 문제: x가 0이면 폭발, (−1,−1)과 (1,1)을 구분 못 함(같은 비율).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atan2(y, x): 부호를 각각 받아 4개 사분면을 전부 구분. 결과는 −π ~ +π.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인자 순서가 (y, x)인 것에 주의 — 수십 년 역사의 관례다.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쓰임: 공이 날아가는 방향각, 조준, 두 점 사이의 각도.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플리퍼의 기하학적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플리퍼 = 피벗(고정점) + 길이 L의 막대 + 두께(캡슐 반경) 10px.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상태는 각도 θ 하나로 완전히 결정된다 — 위치가 아닌 '각도'가 상태라는 것이 핵심.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왼쪽 플리퍼: pivot (140, 726), L=72, 대기 32° ↔ 작동 −34°.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오른쪽 플리퍼: pivot (288, 726), 대기 148° ↔ 작동 214° — 거울 대칭 각도.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플리퍼 끝점 공식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18872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tip = pivot + L·(cosθ, sinθ)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이 슬라이드가 5장의 존재 이유다.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θ가 바뀌면 tip이 피벗 중심의 원호를 따라 움직인다 — 회전의 본질.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코드: this.pivot.add(Vec2.fromAngle(this.angle, this.length))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그리기와 충돌 계산이 같은 tip()을 쓰므로 보이는 것과 물리가 절대 어긋나지 않는다.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오른쪽 플리퍼는 왜 148°인가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왼쪽 플리퍼가 +32°(오른쪽 아래로 뻗음)라면 오른쪽 플리퍼는 좌우 거울상이어야 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거울 대칭 공식: θ' = 180° − θ.  180 − 32 = 148°.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작동 각도: 180 − (−34) = 214°.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cos(148°) &lt; 0 이므로 끝점이 피벗의 '왼쪽'으로 뻗는다 — 정확히 원하는 모양.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각속도 ω — 회전의 속도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ω(오메가) = 초당 회전 라디안(rad/s). 선속도의 회전 버전.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플리퍼의 회전 속도: 22 rad/s ≈ 1260°/s — 대기→작동(66°)을 약 0.05초에 주파.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플리퍼가 '때리는 맛'은 전적으로 ω에서 나온다: 정지한 플리퍼는 그냥 벽이다.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8장에서 ω로 접촉점의 표면 속도를 계산해 공을 후려치게 만든다.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각속도와 선속도의 관계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69164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|v| = ω · r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v = ω · perp(r)   (2D)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피벗에서 r만큼 떨어진 점은 ω·r 의 속력으로 움직인다 — 끝점일수록 빠르다.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방향은 반지름에 수직(원의 접선) — perp(r)가 그 방향을 준다.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플리퍼 끝(r=72)에서: 22 × 72 ≈ 1584 px/s — 발사 속도급의 타격이 나오는 이유.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곡선 벽 만들기 — 호의 선분 근사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충돌 시스템은 '선분'만 안다. 곡선 벽은? 짧은 선분 여러 개로 흉내 낸다.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원 위의 점을 일정 각도 간격으로 뽑아 이웃끼리 잇는다.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상단 아치: 중심 (240, 240), 반지름 234, 180°→360° 구간을 22개 선분으로.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방식의 미덕: 충돌 코드를 한 글자도 안 바꾸고 곡면이 생긴다.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아치 벽 생성 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0E8"/>
                </a:solidFill>
                <a:latin typeface="Malgun Gothic"/>
              </a:rPr>
              <a:t>π(180°)에서 2π(360°)까지 = 캔버스 좌표계에서 '위쪽 반원'이다.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789920" cy="452628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// 상단 반원 아치: 중심 (W/2, 240), 반경 W/2-6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const cx = W / 2, cy = 240, R = W / 2 - 6, SEG = 22;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for (let i = 0; i &lt; SEG; i++)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t0 = Math.PI + (Math.PI * i) / SEG;       // 이번 조각 시작각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t1 = Math.PI + (Math.PI * (i + 1)) / SEG; // 이번 조각 끝각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this.walls.push(new Wall(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cx + R * Math.cos(t0), cy + R * Math.sin(t0),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cx + R * Math.cos(t1), cy + R * Math.sin(t1)));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세그먼트 개수의 트레이드오프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많을수록: 곡선이 매끄럽고 공이 자연스럽게 구른다. 대신 충돌 검사 비용 증가.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적을수록: 빠르지만 모서리가 각져 공이 튀는 방향이 티 나게 꺾인다.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경험칙: 공 반지름보다 세그먼트 현의 길이가 짧으면 대체로 매끄럽다.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선택 22개: 현 길이 ≈ 33px. 반지름 11px 공 기준 충분히 부드럽다.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발사 레인과 아치의 합작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공은 오른쪽 레인에서 위로 발사된다(x ≈ 454).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아치에 도달하면 곡면을 따라 왼쪽으로 휘며 넘어간다 — 인위적 경로 코드가 전혀 없다!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곡면 벽 + 반사 공식만으로 '자연스럽게 필드에 진입하는' 고전 핀볼 연출이 공짜로 나온다.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물리를 제대로 만들면 연출이 따라온다는 좋은 예.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삼각함수로 만드는 부가 효과들 (아이디어)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범퍼 펄스: 반지름 r × (1 + 0.1·sin(t×20)) — 심장 뛰듯 맥동.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게이지 깜빡임: 투명도 = 0.5 + 0.5·sin(t×10).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 궤적 예측선: 속도 각도 atan2(vy, vx) 방향으로 점선.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틸트 연출: 화면 전체를 rotate(0.5°·sin(t)) — 부르르 떨림.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sin은 '무한히 반복되는 부드러운 왕복'이 필요한 모든 곳의 재료다.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[퀴즈] 삼각함수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Q1. 270°는 몇 라디안? 캔버스에서 어느 방향?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Q2. 피벗 (100,100), L=50, θ=0°일 때 tip은?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Q3. perp()는 rotate() 몇 도와 같은가?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A1. 3π/2, 위쪽(y가 아래로 증가하므로)   A2. (150, 100)   A3. +90°.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[퀴즈] 각속도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Q1. ω=10 rad/s, r=50px 지점의 속력은?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Q2. 플리퍼 피벗 바로 옆(r≈0)에 맞은 공이 약하게 튕기는 이유는?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A1. 500 px/s.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A2. 표면 속도 = ω·r 이므로 r이 작으면 타격 속도도 작다 — 실제 핀볼과 같은 현상이 공식에서 저절로 나온다.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[연습] 삼각함수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1: 아치 SEG를 5로 줄여 보라. 공이 튀는 모양이 어떻게 달라지는가?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2: 플리퍼 작동 각도를 −60°로 바꿔 보라. 공이 어디까지 날아가는가?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3: 범퍼를 시계처럼 도는 위성 범퍼로: pos = 중심 + fromAngle(t, 60).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4: atan2로 공의 진행 방향각을 구해 HUD에 도 단위로 표시해 보라.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5장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sin/cos = 단위원 위의 좌표. 극좌표 → 화면좌표 변환기.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캔버스는 y가 아래라서 각도가 시계 방향으로 증가한다.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tip = pivot + L(cosθ, sinθ) — 플리퍼의 모든 것.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회전행렬 두 줄이면 어떤 벡터든 돌릴 수 있다. perp는 90° 회전의 특수형.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곡선 벽 = 삼각함수로 뽑은 점 + 짧은 선분들. 충돌 코드는 재사용.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다음 장: 시간을 흐르게 하는 물리 적분.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5 · 삼각함수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B942"/>
                </a:solidFill>
                <a:latin typeface="Malgun Gothic"/>
              </a:rPr>
              <a:t>CHAPTER 06</a:t>
            </a:r>
          </a:p>
          <a:p>
            <a:pPr>
              <a:spcBef>
                <a:spcPts val="1400"/>
              </a:spcBef>
            </a:pPr>
            <a:r>
              <a:rPr sz="4000" b="1">
                <a:solidFill>
                  <a:srgbClr val="E8ECFF"/>
                </a:solidFill>
                <a:latin typeface="Malgun Gothic"/>
              </a:rPr>
              <a:t>물리 시뮬레이션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9FB0E8"/>
                </a:solidFill>
                <a:latin typeface="Malgun Gothic"/>
              </a:rPr>
              <a:t>중력, 적분, 반발 — 세계에 법칙 부여하기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Chapter 6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게임 물리의 큰 그림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뉴턴 운동 법칙의 게임 번역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중력 상수 정하기 — px/s²의 세계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오일러 적분 — 미분방정식의 이산화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명시적 vs 반암시적 오일러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Ball.update — 반암시적 오일러 + 감쇠 + 속도 제한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공기저항(감쇠) — 게임을 '수렴'시키는 장치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최고 속도 제한(MAX_SPEED)의 세 가지 이유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반발계수 (Coefficient of Restitution)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10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우리 게임의 반발계수 설계표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에너지 관점으로 본 핀볼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터널링(Tunneling) — 빠른 공의 유령화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서브스텝 — dt를 4등분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서브스텝의 비용과 이득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CCD(연속 충돌 감지) — 개요만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수치 안정성 체크리스트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물리 튜닝 가이드 — 손맛의 공학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[퀴즈] 물리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[연습] 물리 실험실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20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6장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게임 물리의 큰 그림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매 프레임 해야 할 일: ① 힘을 속도에 반영 ② 속도를 위치에 반영 ③ 충돌 처리.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①②를 '적분(integration)', ③을 '충돌 감지와 응답'이라 부른다.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장은 ①②를, 다음 장은 ③을 다룬다.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전부 합쳐도 우리 게임의 물리 코드는 100줄이 안 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뉴턴 운동 법칙의 게임 번역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1법칙(관성): 힘이 없으면 속도 유지 → 코드에서 '아무것도 안 하면' 등속.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2법칙(F=ma): 힘은 가속도를 만든다 → vel += acc × dt.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3법칙(작용반작용): 충돌 반작용 → 우리는 공만 움직이므로 반사로 단순화.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게임 물리는 '그럴듯함'이 목표다. 정확한 뉴턴 역학의 근사면 충분하다.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중력 상수 정하기 — px/s²의 세계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현실: 9.8 m/s². 게임: 화면 크기에 맞는 픽셀 단위로 스스로 정한다.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값: GRAVITY = (0, 1400) px/s² — +y가 아래인 것을 기억하라.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감각적 의미: 정지한 공이 1초 후 1400px/s — 화면(800px)을 금방 가로지르는 속도.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튜닝 기준: 크면 공이 무겁고 급하게, 작으면 달 표면처럼 둥실둥실.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핀볼은 실제보다 '과장된 중력'이 손맛이 좋다.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오일러 적분 — 미분방정식의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69164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v(t+dt) ≈ v(t) + a·dt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p(t+dt) ≈ p(t) + v·dt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연속적인 물리 법칙(dv/dt = a)을 프레임 단위 덧셈으로 근사한다.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dt가 작을수록 정확 — 60fps의 16.7ms면 캐주얼 게임에 충분.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적분 순서에 따라 두 유파가 갈린다: 명시적 vs 반암시적.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명시적 vs 반암시적 오일러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명시적(explicit): 위치 먼저(옛 속도로), 속도 나중. p += v·dt; v += a·dt.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반암시적(semi-implicit): 속도 먼저, '새 속도'로 위치. v += a·dt; p += v·dt.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명시적은 에너지가 서서히 증가하는 경향 — 공이 튕길 때마다 더 높이 올라가는 괴현상.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반암시적은 안정적이고 구현 난이도는 동일 — 게임 업계 표준. 우리의 선택.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Ball.update — 반암시적 오일러 + 감쇠 + 속도 제한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0E8"/>
                </a:solidFill>
                <a:latin typeface="Malgun Gothic"/>
              </a:rPr>
              <a:t>물리 적분의 전부. 벡터 덕분에 x/y 중복 없이 다섯 줄이다.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789920" cy="452628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update(dt)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if (!this.inPlay) return;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  // 반암시적 오일러: v += a·dt, p += v·dt (새 속도로!)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this.vel = this.vel.add(GRAVITY.scale(dt));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this.vel = this.vel.scale(AIR_DRAG);          // 공기저항 0.999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sp = this.vel.len();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if (sp &gt; MAX_SPEED)                            // 속도 상한 1600px/s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this.vel = this.vel.scale(MAX_SPEED / sp);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this.pos = this.pos.add(this.vel.scale(dt));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공기저항(감쇠) — 게임을 '수렴'시키는 장치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매 스텝 vel × 0.999 — 0.1%씩 에너지를 깎는다.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없으면: 반발계수 1.15인 범퍼 때문에 공이 무한히 빨라질 수 있다.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있으면: 범퍼가 주는 에너지와 감쇠가 균형을 이뤄 게임 템포가 안정된다.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주의: 프레임 횟수에 곱해지므로 엄밀히는 dt 의존적이다 — 서브스텝 수를 바꾸면 체감이 미묘하게 달라진다. 정석은 Math.pow(drag, dt) 방식(13장 참고).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최고 속도 제한(MAX_SPEED)의 세 가지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① 터널링 방지: 너무 빠른 공은 한 스텝에 벽을 건너뛴다.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② 게임성: 눈으로 좇을 수 없는 공은 재미가 아니라 스트레스.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③ 수치 안정성: 속도가 폭주하면 충돌 보정량도 폭주해 연쇄 붕괴.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구현: 속력이 1600을 넘으면 방향은 유지한 채 크기만 1600으로 — scale(MAX/sp).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반발계수 (Coefficient of Restitution)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18872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e = (튕겨나가는 속력) / (들어온 속력)   — 법선 방향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충돌의 '탄력'을 0~1+ 숫자 하나로 표현.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농구공 ≈ 0.8, 진흙 ≈ 0, 슈퍼볼 ≈ 0.9.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반사 공식의 (1+e)에 들어가는 그 e다 — 4장과 연결.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우리 게임의 반발계수 설계표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벽 WALL_E = 0.55 — 적당히 죽어야 공이 필드에 머문다.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플리퍼 FLIPPER_E = 0.35 — 반발은 낮게, 대신 ω×r 타격으로 속도를 준다(8장).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범퍼 BUMPER_E = 1.15 — 에너지를 '주입'하는 능동 요소.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슬링샷 e = 1.0 + 최소 속도 보장 — 쏘아 보내는 느낌.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네 숫자가 게임의 성격을 결정한다. 물리 튜닝 = 게임 디자인.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에너지 관점으로 본 핀볼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중력은 위치에너지↔운동에너지를 왕복시킬 뿐 총량을 늘리지 않는다.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에너지 공급원: 발사 스프링, 범퍼(e&gt;1), 슬링샷, 플리퍼(ω×r).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에너지 소비처: 벽(e&lt;1), 공기저항, 플리퍼의 낮은 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공급 &gt; 소비면 공이 날뛰고, 공급 &lt; 소비면 금방 축 처진다 — 균형이 곧 레벨 디자인.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터널링(Tunneling) — 빠른 공의 유령화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충돌 검사는 '이산적인 순간'에만 한다. 스텝 사이의 이동은 순간이동이다.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공이 한 스텝에 벽 두께보다 멀리 가면 겹침이 감지되지 않고 통과한다.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수치: MAX 1600px/s × 16.7ms = 프레임당 26.7px — 공 지름(22px)보다 크다! 위험.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대책 ① 속도 제한(했음) ② 서브스텝(핵심) ③ CCD(고급, 개요만).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서브스텝 — dt를 4등분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0E8"/>
                </a:solidFill>
                <a:latin typeface="Malgun Gothic"/>
              </a:rPr>
              <a:t>이동 거리가 1/4이 되어 스텝당 최대 6.7px — 공 지름보다 훨씬 작아진다.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789920" cy="452628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// Game.update 안: 빠른 공이 벽을 뚫는 터널링을 줄인다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const STEPS = 4;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const sdt = dt / STEPS;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for (let i = 0; i &lt; STEPS; i++)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this.ball.update(sdt);                          // 1/4 만큼만 이동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this.walls.forEach(w =&gt; w.collide(this.ball));  // 즉시 충돌 검사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this.bumpers.forEach(b =&gt; b.collide(this.ball, this));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this.slings.forEach(s =&gt; s.collide(this.ball, this));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this.flippers.forEach(f =&gt; f.collide(this.ball));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서브스텝의 비용과 이득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비용: 물리 계산 4배. 우리 규모(충돌체 ~35개)에서는 전혀 문제없다.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이득 ① 터널링 사실상 소멸 ② 충돌 응답이 부드러워짐(한 프레임 내 다중 반사).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이득 ③ 빠르게 회전하는 플리퍼와의 접촉을 놓치지 않는다.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스텝 수 선택: 최대 이동거리(px/스텝)가 가장 얇은 충돌체보다 작아지도록.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CCD(연속 충돌 감지) — 개요만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이동 경로 전체(선분)와 충돌체의 교차를 해석적으로 계산하는 방식.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장점: 아무리 빨라도 절대 안 뚫는다. 단점: 수학과 코드가 급격히 복잡해진다.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총알, 골프공 시뮬 등 극단적 속도의 게임에서 필수.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핀볼은 속도 상한 + 서브스텝으로 충분하다는 것이 실무적 결론.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수치 안정성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dt 클램프 — 3장. 폭주 방지의 1차 방어선.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속도 상한 — 이번 장. 2차 방어선.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0 나눗셈 가드(1e-9) — 4장. NaN 방지.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vn ≥ 0 재반사 방지 — 4장. 진동 방지.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침투 해소(위치 보정) — 7장. 파묻힘 방지.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다섯 가드가 모두 있어야 '절대 안 깨지는' 물리가 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물리 튜닝 가이드 — 손맛의 공학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공이 무겁게 느껴진다 → GRAVITY ↓ 또는 발사/범퍼 속도 ↑.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게임이 금방 끝난다 → 플리퍼 갭 ↓, 깔때기 각도 조정.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공이 벽에서 너무 죽는다 → WALL_E ↑ (0.6~0.7).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범퍼 지옥(공이 안 내려옴) → BUMPER_E ↓ 또는 범퍼 간격 ↑.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변경은 반드시 '한 번에 하나씩' — 물리 파라미터는 서로 얽혀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[퀴즈] 물리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Q1. 반암시적 오일러가 명시적과 다른 점 한 가지는?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Q2. e=1.15인 범퍼만 있는 무한 복도에서 공은 어떻게 되는가? 막는 장치는?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Q3. 서브스텝 4회가 터널링을 줄이는 원리는?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A1. 갱신된 새 속도로 위치를 적분한다(안정적).   A2. 무한 가속 — AIR_DRAG와 MAX_SPEED가 막는다.   A3. 스텝당 이동거리가 1/4로 줄어 벽을 건너뛸 수 없다.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[연습] 물리 실험실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1: GRAVITY를 (200, 1400)으로 — 테이블이 기울어진 것처럼 만들어 보라.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2: AIR_DRAG를 0.99로 낮춰 보라. 몇 초 만에 공이 절반 속도가 되는가? (0.99^n)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3: STEPS를 1로 줄이고 최대 파워로 발사해 보라. 어느 벽이 먼저 뚫리는가?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4: 반암시적을 명시적으로 바꿔(두 줄 순서 교환) 10분 플레이 — 차이를 체감해 보라.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6장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물리 = 적분 + 충돌. 적분은 v += a·dt; p += v·dt 두 줄(반암시적 오일러).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감쇠와 속도 상한이 에너지 폭주를 막는다.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반발계수 e가 각 충돌체의 성격을 결정한다 — 범퍼는 e&gt;1.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터널링은 속도 상한 + 서브스텝으로 잡는다.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다음 장: 물리의 나머지 절반, 충돌 감지.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6 · 물리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B942"/>
                </a:solidFill>
                <a:latin typeface="Malgun Gothic"/>
              </a:rPr>
              <a:t>CHAPTER 07</a:t>
            </a:r>
          </a:p>
          <a:p>
            <a:pPr>
              <a:spcBef>
                <a:spcPts val="1400"/>
              </a:spcBef>
            </a:pPr>
            <a:r>
              <a:rPr sz="4000" b="1">
                <a:solidFill>
                  <a:srgbClr val="E8ECFF"/>
                </a:solidFill>
                <a:latin typeface="Malgun Gothic"/>
              </a:rPr>
              <a:t>충돌 감지와 응답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9FB0E8"/>
                </a:solidFill>
                <a:latin typeface="Malgun Gothic"/>
              </a:rPr>
              <a:t>원-원, 원-선분, 침투 해소 — 핀볼의 손과 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Chapter 7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충돌 처리의 2단계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우리 게임의 충돌 조합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원-원 충돌 감지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Bumper.collide — 원-원의 전형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sqrt 비교 최적화 — 실전 감각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침투(Penetration) — 왜 반드시 위치를 보정하나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원-선분 충돌 — 문제의 재구성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점-선분 최근접점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clamp(0,1)의 기하학적 의미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10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closestPointOnSegment — 4줄의 만능 도구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법선은 어느 방향? — 선분 충돌의 미묘한 점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Wall.collide — 원-선분의 완성형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dist &lt; 1e-9 가드 — 퇴화 케이스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충돌의 4박자 — 패턴으로 암기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범퍼의 추가 규칙 — 최소 튕김 속도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범퍼 킥 + 점수 코드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슬링샷 — 벽과 범퍼의 하이브리드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여러 충돌체를 순서대로 검사하기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한 프레임 다중 충돌과 서브스텝의 합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20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캡슐 충돌 — 두꺼운 선분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충돌 디버깅 — 눈으로 보는 물리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브로드페이즈 맛보기 — 규모가 커지면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[퀴즈] 충돌 감지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[퀴즈] 충돌 응답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[연습] 충돌 실험실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26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7장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충돌 처리의 2단계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감지(Detection): 겹쳤는가? 겹쳤다면 어디서, 얼마나?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응답(Response): 겹침을 어떻게 해소하고 속도를 어떻게 바꿀 것인가?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감지의 산출물 세 가지: 충돌 여부, 법선 n̂, 침투 깊이.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응답은 4장에서 이미 완성했다(reflect) — 이 장의 주인공은 감지다.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우리 게임의 충돌 조합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공(원) vs 범퍼(원) — 원-원 충돌.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공(원) vs 벽(선분) — 원-선분 충돌.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공(원) vs 플리퍼(회전하는 캡슐) — 원-선분 + 표면 속도(8장).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공(원) vs 슬링샷 — 원-선분 + 최소 반발 속도.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결국 두 가지 기본기(원-원, 원-선분)로 모든 것이 만들어진다.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원-원 충돌 감지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18872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충돌  ⇔  |c₁ − c₂| &lt; r₁ + r₂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두 중심 사이 거리가 반지름 합보다 작으면 겹친 것. 이보다 단순할 수 없다.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법선: n̂ = (c₁ − c₂) / |c₁ − c₂| — 중심을 잇는 방향.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침투 깊이: (r₁ + r₂) − |c₁ − c₂|.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Bumper.collide — 원-원의 전형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0E8"/>
                </a:solidFill>
                <a:latin typeface="Malgun Gothic"/>
              </a:rPr>
              <a:t>d.norm() 대신 d.scale(1/dist)를 쓴 이유: dist를 이미 계산했으므로 sqrt 재계산 회피.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789920" cy="452628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collide(ball, game)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d = ball.pos.sub(this.pos);      // 범퍼 → 공 벡터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dist = d.len();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minDist = this.r + BALL_RADIUS;  // 반지름 합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if (dist &gt;= minDist || dist &lt; 1e-9) return false;  // 안 겹침 / 퇴화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n = d.scale(1 / dist);           // 단위 법선 (직접 나눔)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ball.pos = this.pos.add(n.scale(minDist));  // 침투 해소: 표면 위로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ball.vel = reflect(ball.vel, n, BUMPER_E);  // 반사 (e = 1.15)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  // ... 최소 튕김 속도 + 점수는 다음 슬라이드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sqrt 비교 최적화 — 실전 감각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판정만 필요하면 dist² &lt; minDist² 로 sqrt를 아예 피할 수 있다.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그러나 겹쳤을 때는 어차피 법선과 깊이 계산에 실제 거리가 필요하다.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선택: 명료함 우선으로 len() 사용. 충돌체 35개 규모에선 차이가 없다.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수천 개 입자 시뮬이라면: lenSq로 1차 거르기 → 겹친 것만 sqrt.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침투(Penetration) — 왜 반드시 위치를 보정하나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이산 시뮬레이션에서 공은 항상 '이미 파고든 상태'로 발견된다.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속도만 반사하고 위치를 안 고치면: 다음 스텝에도 여전히 겹침 → vn 가드에 걸려 방치 → 공이 벽 속을 미끄러진다.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보정 방법: 법선 방향으로 침투 깊이만큼 밀어내 '정확히 접하는' 위치로 옮긴다.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원-원: pos = 상대중심 + n̂ × (r₁+r₂).  원-선분: pos += n̂ × (r − dist).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원-선분 충돌 — 문제의 재구성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질문: '원과 선분이 겹쳤나?'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변환: '선분 위에서 공 중심에 가장 가까운 점(최근접점)과의 거리가 반지름보다 작나?'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변환 덕에 원-선분 문제가 '점-선분 최근접점' 문제 하나로 줄어든다.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최근접점은 투영(4장 내적)으로 구한다 — 수학이 연결되는 순간.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점-선분 최근접점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69164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t = clamp( (p−a)·(b−a) / |b−a|² , 0, 1 )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최근접점 = a + t·(b−a)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t는 '선분 위 어디쯤'을 나타내는 비율: 0이면 a, 1이면 b, 0.5면 중점.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분자 (p−a)·(b−a): p를 선분 방향으로 투영한 그림자 길이 × |b−a|.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분모 |b−a|²로 나누면 0~1 스케일의 비율이 된다.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clamp가 핵심 — 다음 슬라이드.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clamp(0,1)의 기하학적 의미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투영점이 선분 '연장선' 위에 떨어질 수 있다 — t &lt; 0 또는 t &gt; 1.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t를 [0,1]로 자르면 최근접점이 끝점 a 또는 b로 스냅된다.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효과: 선분의 '끝'에 부딪히는 공이 끝점(모서리)을 중심으로 자연스럽게 둥글게 튕긴다.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clamp 한 줄이 '모서리 충돌'을 공짜로 해결한다 — 이 알고리즘의 백미.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closestPointOnSegment — 4줄의 만능 도구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0E8"/>
                </a:solidFill>
                <a:latin typeface="Malgun Gothic"/>
              </a:rPr>
              <a:t>벽, 플리퍼, 슬링샷 모두 이 함수로 충돌한다. 게임에서 재사용률 1위.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789920" cy="452628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/* 점 p에서 선분 a-b 위의 최근접점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 * t = clamp(((p-a)·(b-a)) / |b-a|², 0, 1) */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function closestPointOnSegment(p, a, b)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ab = b.sub(a);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t = Math.max(0, Math.min(1, p.sub(a).dot(ab) / ab.lenSq()));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return a.add(ab.scale(t));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법선은 어느 방향? — 선분 충돌의 미묘한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선분의 법선은 두 방향(양쪽 면)이 있다. 어느 쪽으로 밀어낼 것인가?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정답: '최근접점에서 공 중심을 향하는 방향' — 공이 있는 쪽이 곧 밀어낼 쪽.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n̂ = (공중심 − 최근접점) / 거리.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방식은 공이 선분의 어느 면에서 오든 자동으로 옳다 — if문이 필요 없다.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Wall.collide — 원-선분의 완성형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0E8"/>
                </a:solidFill>
                <a:latin typeface="Malgun Gothic"/>
              </a:rPr>
              <a:t>감지 → 법선 → 보정 → 반사. 모든 충돌 함수가 이 4박자를 따른다.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789920" cy="452628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collide(ball)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cp = closestPointOnSegment(ball.pos, this.a, this.b);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d  = ball.pos.sub(cp);          // 최근접점 → 공 중심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dist = d.len();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if (dist &gt;= BALL_RADIUS || dist &lt; 1e-9) return false;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n = d.scale(1 / dist);          // 충돌 법선 (공이 있는 쪽)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ball.pos = ball.pos.add(n.scale(BALL_RADIUS - dist)); // 침투 해소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ball.vel = reflect(ball.vel, n, this.e);              // 반사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return true;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dist &lt; 1e-9 가드 — 퇴화 케이스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 중심이 '정확히' 선분 위에 있으면 d가 0벡터 — 법선을 정할 수 없다.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0으로 나누면 (NaN, NaN) → 공 위치·속도 전체가 NaN으로 오염.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발생 확률은 낮지만 서브스텝 4회 × 60fps × 벽 30개면 언젠가 일어난다.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가드의 대가: 그 스텝은 충돌을 건너뛴다 — 다음 스텝에 공이 살짝 움직여 정상 처리된다.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충돌의 4박자 — 패턴으로 암기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① 감지: 거리 &lt; 임계값?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② 법선: 밀어낼 단위 방향 n̂.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③ 보정: 위치를 표면 밖으로 (침투 해소).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④ 반사: reflect(v, n̂, e).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Wall, Bumper, Slingshot, Flipper의 collide가 전부 이 구조다 — 코드를 읽을 때 이 틀에 끼워 보라.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범퍼의 추가 규칙 — 최소 튕김 속도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문제: 힘없이 굴러온 공은 반사해 봤자 힘없이 떠난다 — 범퍼답지 않다.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해결: 반사 후 법선 방향 속도 성분(vn)이 420px/s 미만이면 그만큼 채워 준다.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vn = vel·n̂;  if (vn &lt; 420) vel += n̂ × (420 − vn)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결과: 아무리 살짝 스쳐도 최소 420px/s로 쏘아 보낸다 — '킥'의 정체.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점수(+100~150)와 플래시 이펙트도 이 순간 발동한다.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범퍼 킥 + 점수 코드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// Bumper.collide 후반부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const vn = ball.vel.dot(n);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if (vn &lt; 420) ball.vel = ball.vel.add(n.scale(420 - vn));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game.addScore(this.score);   // 100~150점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this.flash = 0.15;           // 0.15초간 노란색 플래시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// update(dt)에서 플래시 타이머 감소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update(dt) { this.flash = Math.max(0, this.flash - dt);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슬링샷 — 벽과 범퍼의 하이브리드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구조적으로는 Wall(선분, e=1.0)을 내부에 품고 있다 — 합성(composition).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충돌 시 반사 속도가 충분히 안 커졌으면 법선 방향으로 +300px/s 보정.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점수는 30점 — 낮은 점수를 자주 주는 리듬 요소.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실제 핀볼처럼 플리퍼 바로 위 좌우에 배치해 공을 계속 흔들어 놓는다.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여러 충돌체를 순서대로 검사하기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한 스텝에서 벽 → 범퍼 → 슬링샷 → 플리퍼 순으로 모두 검사한다.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앞의 충돌이 공 위치를 옮기면 뒤의 검사는 '옮겨진 위치' 기준 — 순차 해소 방식.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장점: 구현 단순, 대부분 자연스러움. 단점: 좁은 틈에 끼면 양쪽으로 번갈아 밀릴 수 있다.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본격 엔진은 모든 접촉을 모아 동시에 푸는 솔버를 쓴다 — 핀볼엔 과잉.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한 프레임 다중 충돌과 서브스텝의 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서브스텝 덕분에 한 프레임 안에서 최대 4번의 독립적 충돌 기회가 있다.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코너에 몰린 공: 스텝1에 왼벽 반사 → 스텝2에 바닥 반사 — 자연스러운 코너 탈출.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서브스텝 없이 한 번에 처리하면 코너에서 떨림이나 파묻힘이 훨씬 잦다.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충돌 시스템과 적분 시스템은 이렇게 서로를 보완한다.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캡슐 충돌 — 두꺼운 선분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캡슐 = 선분에서 거리 t 이내의 모든 점 (양 끝이 둥근 막대).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감지: 최근접점과의 거리 &lt; (공 반지름 + 캡슐 반두께) — 임계값만 바뀐다!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closestPointOnSegment를 그대로 재사용 — 새 수학이 전혀 필요 없다.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플리퍼가 정확히 이것: thick=10인 캡슐. 8장에서 회전 속도만 추가된다.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충돌 디버깅 — 눈으로 보는 물리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법선 그리기: 충돌 시 접점에서 n̂×30 길이의 빨간 선을 render에 추가.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최근접점 표시: 매 프레임 각 벽의 cp를 작은 점으로.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속도 벡터: 공 중심에서 vel×0.1 화살표 — 반사가 옳은지 즉시 보인다.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슬로모션(dt×0.1) + 벡터 표시 조합이면 대부분의 충돌 버그는 10분 안에 잡힌다.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브로드페이즈 맛보기 — 규모가 커지면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방식: 매 스텝 모든 충돌체 검사 — O(n). n=35라 문제없다.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n이 수백~수천이면: 공간 그리드나 쿼드트리로 '가까운 후보'만 추린다(브로드페이즈).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추려진 후보에만 정밀 검사(내로우페이즈) — 이 장에서 배운 수학이 그대로 쓰인다.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자세한 구현은 13장 최적화에서.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[퀴즈] 충돌 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Q1. 반지름 11 공과 반지름 26 범퍼가 충돌하는 중심 간 거리 조건은?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Q2. t가 clamp로 0이 되었다는 것은 어떤 상황인가?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Q3. 침투 해소 없이 반사만 하면 생기는 대표 증상은?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A1. 37 미만   A2. 최근접점이 끝점 a — 공이 선분의 a쪽 바깥에 있다   A3. 공이 벽에 파묻힌 채 미끄러진다.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[퀴즈] 충돌 응답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Q1. 충돌 4박자를 순서대로 말해 보라.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Q2. 범퍼 법선이 (0.6, −0.8), 반사 후 vn=100일 때 킥 보정량은?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A1. 감지 → 법선 → 보정 → 반사.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A2. n̂ × (420−100) = (192, −256) 를 속도에 더한다.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[연습] 충돌 실험실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1: 법선 시각화 디버그 모드를 실제로 구현해 보라 (D 키로 토글).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2: 새 충돌체 '원형 벽(내부가 뚫린 링)'을 만들어 보라 — 조건이 어떻게 뒤집히는가?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3: clamp를 제거하면 어떤 벽에서 무슨 일이 생기는지 관찰하라 (아치 이음매 주목).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4: 슬링샷 보정 속도 300을 800으로 — 게임 난이도가 어떻게 변하는가?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7장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충돌 = 감지(법선·깊이) + 응답(보정·반사)의 4박자.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원-원: 거리 vs 반지름 합. 원-선분: 최근접점으로 환원.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최근접점 = 투영 + clamp. clamp가 모서리를 공짜로 처리한다.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침투 해소는 필수 — 반사만으로는 파묻힘을 못 막는다.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범퍼 킥(최소 속도)과 슬링샷이 게임에 에너지를 공급한다.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다음 장: 움직이는 충돌체 — 플리퍼.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7 · 충돌 감지와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B942"/>
                </a:solidFill>
                <a:latin typeface="Malgun Gothic"/>
              </a:rPr>
              <a:t>CHAPTER 08</a:t>
            </a:r>
          </a:p>
          <a:p>
            <a:pPr>
              <a:spcBef>
                <a:spcPts val="1400"/>
              </a:spcBef>
            </a:pPr>
            <a:r>
              <a:rPr sz="4000" b="1">
                <a:solidFill>
                  <a:srgbClr val="E8ECFF"/>
                </a:solidFill>
                <a:latin typeface="Malgun Gothic"/>
              </a:rPr>
              <a:t>플리퍼 역학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9FB0E8"/>
                </a:solidFill>
                <a:latin typeface="Malgun Gothic"/>
              </a:rPr>
              <a:t>회전하는 캡슐과 ω×r — 게임의 유일한 조작 장치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Chapter 8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플리퍼가 어려운 이유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플리퍼의 상태 설계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Flipper.update — 목표각 추종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update 코드의 섬세한 부분들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회전체 위 점의 속도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움직이는 표면과의 충돌 — 상대속도 기법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Flipper.collide — 이 게임에서 가장 물리적인 함수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왜 반발계수가 0.35로 낮은가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수치로 보는 플리퍼 타격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10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타이밍이 게임성이 되는 이유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플리퍼 갭 설계 — 기하학이 난이도다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입력 연결 — 두 개의 키 매핑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흔한 플리퍼 버그 도감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확장: 플리퍼를 넘어서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[퀴즈] 플리퍼 역학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[연습] 플리퍼 실험실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8장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플리퍼가 어려운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벽·범퍼는 정지해 있다 — 공의 속도만 생각하면 됐다.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플리퍼는 '움직이는 표면'이다 — 표면 자체의 속도를 무시하면 공을 '때릴' 수 없다.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필요한 재료: ① 회전 상태 관리(각도·각속도) ② 캡슐 충돌(7장) ③ 표면 속도(이번 장의 핵심).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장을 이해하면 '움직이는 플랫폼', '회전 장애물' 등 모든 동적 충돌체를 만들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플리퍼의 상태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angle: 현재 각도 — 유일한 위치 상태 (tip은 매번 계산).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omega: 현재 각속도(rad/s) — 타격 계산의 핵심.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pressed: 키 입력 플래그 (3장의 이벤트→플래그 패턴).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restAngle / activeAngle: 대기·작동 목표 각도. speed: 회전 속도 22rad/s.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위치(x,y)를 저장하지 않는 것에 주목 — '각도가 곧 상태'가 회전체 설계의 정석.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Flipper.update — 목표각 추종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0E8"/>
                </a:solidFill>
                <a:latin typeface="Malgun Gothic"/>
              </a:rPr>
              <a:t>눌림 여부 → 목표각 결정 → 일정 속도로 접근 → 도달하면 ω=0.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789920" cy="452628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update(dt)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target = this.pressed ? this.activeAngle : this.restAngle;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diff = target - this.angle;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step = Math.sign(diff) * this.speed * dt;   // 이번 프레임 회전량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if (Math.abs(step) &gt;= Math.abs(diff))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this.omega = diff / dt;      // 마지막 프레임의 '실제' 각속도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this.angle = target;         // 목표 도달 (오버슛 방지)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} else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this.omega = Math.sign(diff) * this.speed;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this.angle += step;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if (Math.abs(diff) &lt; 1e-4) this.omega = 0;  // 도달 후 정지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update 코드의 섬세한 부분들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Math.sign(diff): 목표가 위든 아래든 같은 코드로 처리 — 왼쪽/오른쪽 플리퍼 공용.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오버슛 방지: 남은 각도보다 step이 크면 정확히 target에 스냅.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스냅하는 프레임의 ω = diff/dt — 실제로 돈 만큼만 기록해 타격이 과장되지 않는다.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도달 후 ω=0: 눌린 채 유지 중인 플리퍼는 '정지한 벽'으로 취급된다 — 올바른 물리.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회전체 위 점의 속도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1691640"/>
          </a:xfrm>
          <a:prstGeom prst="rect">
            <a:avLst/>
          </a:prstGeom>
          <a:solidFill>
            <a:srgbClr val="181E3D"/>
          </a:solidFill>
          <a:ln w="152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v = ω × r   (3D 외적)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5B942"/>
                </a:solidFill>
                <a:latin typeface="Consolas"/>
              </a:rPr>
              <a:t>2D 구현:  v = ω · perp(r)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r: 피벗에서 접촉점까지의 벡터.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perp(r): r을 90° 돌린 벡터 — 원운동의 접선 방향(5장).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ω의 부호가 방향을 결정: 양수면 화면상 시계 방향 회전.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500" b="0">
                <a:solidFill>
                  <a:srgbClr val="E8ECFF"/>
                </a:solidFill>
                <a:latin typeface="Malgun Gothic"/>
              </a:rPr>
              <a:t>피벗에서 멀수록(|r|↑) 빠르다 — 플리퍼 끝이 가장 아픈 이유.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움직이는 표면과의 충돌 — 상대속도 기법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원리: '표면이 보는 세상'으로 들어가면 표면은 정지해 있다.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① 접촉점의 표면 속도 v_s를 구한다.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② 공의 상대속도 v_rel = v − v_s 를 계산한다.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③ 정지 표면과 똑같이 반사: v_rel' = reflect(v_rel, n̂, e).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④ 다시 세상 좌표로: v' = v_rel' + v_s.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4단계가 '움직이는 물체와의 충돌'의 보편 공식이다 — 플리퍼, 무빙 플랫폼, 차량 전부.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Flipper.collide — 이 게임에서 가장 물리적인 함수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collide(ball)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a = this.pivot, b = this.tip();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cp = closestPointOnSegment(ball.pos, a, b);   // 캡슐 축 최근접점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d = ball.pos.sub(cp);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dist = d.len();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minDist = BALL_RADIUS + this.thick;           // 공 + 캡슐 반두께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if (dist &gt;= minDist || dist &lt; 1e-9) return false;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n = d.scale(1 / dist);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ball.pos = ball.pos.add(n.scale(minDist - dist));   // 침투 해소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r = cp.sub(this.pivot);                       // 피벗 → 접촉점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surfaceVel = r.perp().scale(this.omega);      // v = ω·perp(r)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relVel = ball.vel.sub(surfaceVel);            // 상대속도로 전환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ball.vel = reflect(relVel, n, FLIPPER_E).add(surfaceVel); // 반사 후 복귀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return true;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왜 반발계수가 0.35로 낮은가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플리퍼의 '힘'은 반발이 아니라 표면 속도에서 나온다.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정지 플리퍼(ω=0): surfaceVel=0 → 그냥 e=0.35짜리 부드러운 벽 — 공 받기(trap)가 가능.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회전 중 플리퍼: 표면 속도 최대 ~1584px/s가 상대속도 반사에 실려 폭발적 타격.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e를 높이면 정지 플리퍼조차 공을 튕겨내 컨트롤이 불가능해진다 — 실제 핀볼 감각과의 타협점.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수치로 보는 플리퍼 타격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상황: 공이 300px/s로 낙하, 플리퍼 끝 부근(r=60)을 ω=22로 후려침.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표면 속도 = 22 × 60 = 1320px/s (위 방향 성분 포함).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상대속도 ≈ 300 + 1320 = 1620px/s로 표면에 접근하는 셈.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반사 후 공 속도 ≈ 0.35 × 1620 + 1320 ≈ 1887 → MAX_SPEED(1600)로 클램프.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즉 풀스윙 정타는 거의 항상 최고 속도 — 손맛의 수학적 근거.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타이밍이 게임성이 되는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일찍 누름: 공이 올 때 이미 도달(ω=0) → 약한 벽 반사만.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정타: 회전 중(ω=22)에 접촉 → 최대 타격.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차이가 코드 한 줄 없이 '타이밍 스킬'을 만든다 — 물리에서 창발한 게임성.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update에서 도달 프레임의 ω를 diff/dt로 정확히 기록한 것이 여기서 빛을 발한다.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플리퍼 갭 설계 — 기하학이 난이도다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두 플리퍼 끝 사이 간격이 공 지름(22px)보다 좁으면 공이 절대 안 빠진다 — 게임오버가 없다.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너무 넓으면 지옥 난이도.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값: 피벗 간격 148px, L=72, 대기각 32° → 끝점 간격 약 26px — 공보다 4px 넓다.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12장의 자동 테스트가 이 간격을 검증한다: '22 &lt; gap &lt; 80'.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입력 연결 — 두 개의 키 매핑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왼쪽: ArrowLeft 또는 KeyZ.  오른쪽: ArrowRight 또는 Slash(/).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Z와 / 는 실제 핀볼 시뮬레이터들의 관례(양손 검지 위치).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keydown에서 pressed=true, keyup에서 false — update가 나머지를 처리.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동시 입력도 자연스럽다: 두 플리퍼는 완전히 독립된 객체다.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흔한 플리퍼 버그 도감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공이 플리퍼를 뚫는다 → 회전이 너무 빠른데 서브스텝이 부족. STEPS를 늘려라.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공이 플리퍼에 붙는다 → 침투 해소 누락 또는 vn 가드 누락.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타격이 밋밋하다 → ω를 계산에 안 넣고 있거나(정지 벽 취급) e만 키우고 있는 경우.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공이 순간이동한다 → 스냅 프레임의 ω를 speed로 고정해 과장된 표면 속도가 실린 경우 — diff/dt로 고쳐라.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확장: 플리퍼를 넘어서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같은 수학(상대속도 반사 + ω·perp(r))으로 만들 수 있는 것들: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회전 십자 장애물 — ω가 일정한 플리퍼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스피너 — 공이 닿으면 반대로 ω를 받는 회전판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무빙 플랫폼 — ω 대신 선속도 v_s를 그대로 사용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'표면 속도를 구해 상대속도로 반사한다'는 원리는 어디서나 같다.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[퀴즈] 플리퍼 역학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Q1. 접촉점 속도 공식은? (2D)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Q2. 눌린 채 유지 중인 플리퍼의 ω는? 그때 플리퍼는 물리적으로 무엇인가?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Q3. 상대속도 기법의 4단계는?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A1. v = ω·perp(r)   A2. 0, 정지한 캡슐 벽   A3. 표면속도 → 상대속도 → 반사 → 복귀.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[연습] 플리퍼 실험실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1: speed를 8로 낮춰 보라 — '무거운 플리퍼'의 감각을 체험.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2: 가운데 세 번째 플리퍼를 추가해 보라 (피벗, 각도, 키 매핑).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3: 정지 플리퍼 위에 공을 얹어(trap) 조준 발사하는 고급 기술을 연습해 보라.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4: FLIPPER_E를 0.9로 — 왜 컨트롤이 망가지는지 몸으로 확인하라.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8장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플리퍼 = 각도가 상태인 회전 캡슐. tip = pivot + L(cosθ, sinθ).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목표각 추종 + 오버슛 스냅 + 실제 ω 기록이 update의 전부.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타격의 정체: 접촉점 표면 속도 ω·perp(r)를 상대속도 반사에 싣는 것.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낮은 반발계수(0.35)가 '받기'와 '때리기'를 모두 가능하게 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다음 장: 모든 부품을 테이블 위에 조립한다.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8 · 플리퍼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B942"/>
                </a:solidFill>
                <a:latin typeface="Malgun Gothic"/>
              </a:rPr>
              <a:t>CHAPTER 09</a:t>
            </a:r>
          </a:p>
          <a:p>
            <a:pPr>
              <a:spcBef>
                <a:spcPts val="1400"/>
              </a:spcBef>
            </a:pPr>
            <a:r>
              <a:rPr sz="4000" b="1">
                <a:solidFill>
                  <a:srgbClr val="E8ECFF"/>
                </a:solidFill>
                <a:latin typeface="Malgun Gothic"/>
              </a:rPr>
              <a:t>테이블 구성과 게임 규칙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9FB0E8"/>
                </a:solidFill>
                <a:latin typeface="Malgun Gothic"/>
              </a:rPr>
              <a:t>지오메트리 설계, 발사, 점수, 게임 오버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Chapter 9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테이블 레이아웃 청사진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좌표 설계의 원칙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외벽과 발사 레인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깔때기(아웃레인) — 공을 플리퍼로 모으기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buildTable — 레벨 데이터의 집합소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발사 시스템 — 게이지 충전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점수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공 관리 — 드레인과 게임 오버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상태 기계로 본 게임 흐름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10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그리기 순서와 레이어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이펙트 — 최소 비용의 타격감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전 오브젝트 통합 — Game.update 다시 보기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[연습] 나만의 테이블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9장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9 · 테이블 구성과 게임 규칙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테이블 레이아웃 청사진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480×800 세로 화면. 오른쪽 끝 52px 폭이 발사 레인.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위: 반원 아치(반지름 234)가 천장 — 발사된 공을 필드로 유도.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중앙: 범퍼 3개의 삼각 배치 (150,250) (280,220) (215,340).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아래: 슬링샷 2개 → 깔때기 벽 → 플리퍼 2개 → 드레인(바닥 구멍).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모든 좌표는 buildTable() 한 곳에 모여 있다 — 레벨 데이터와 로직의 분리.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9 · 테이블 구성과 게임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좌표 설계의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먼저 종이에 그린다 — 코드보다 모눈종이가 빠르다.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연결부는 좌표를 공유한다: 외벽 끝 y=240 = 아치 시작 y — 틈새는 곧 공 탈출구.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대칭 요소는 수식으로: 오른쪽 플리퍼 각도 = 180° − 왼쪽 각도.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매직 넘버에는 상수 이름을: lane = W − 52 처럼 의미를 부여.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9 · 테이블 구성과 게임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외벽과 발사 레인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왼쪽 벽: (6, 800) → (6, 240).  오른쪽 벽: (474, 776) → (474, 240).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레인 내벽: (428, 760) → (428, 320) — 위가 열려 있어 공이 필드로 나간다.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레인 바닥: (428, 776) → (474, 776) — 공이 되돌아오면 받아 주는 선반.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복귀 처리: 레인 영역에서 속력 &lt; 60px/s면 발사 대기 상태로 리셋 — 부드러운 UX.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9 · 테이블 구성과 게임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깔때기(아웃레인) — 공을 플리퍼로 모으기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왼쪽: (6, 620) → (134, 712).  오른쪽: (428, 620) → (294, 712).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기울기 약 36° — 공이 구르기에 충분히 가파르고, 플리퍼 타이밍을 잡을 만큼 완만.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끝점이 플리퍼 피벗 근처에서 끝나 공이 자연스럽게 플리퍼 위로 흘러든다.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깔때기와 플리퍼 사이 틈은 피벗 쪽이므로 공(지름 22px)이 빠질 수 없다.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9 · 테이블 구성과 게임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buildTable — 레벨 데이터의 집합소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buildTable()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this.walls = [];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lane = W - 52;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  // 외벽, 레인, 아치(22분할), 깔때기 ... (5장, 7장 참조)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const D = Math.PI / 180;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this.flippers = [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new Flipper(140, 726, 72,  32 * D,  -34 * D, "left"),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new Flipper(288, 726, 72, 148 * D, 214 * D, "right"),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];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this.bumpers = [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new Bumper(150, 250, 26, 100),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new Bumper(280, 220, 26, 100),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new Bumper(215, 340, 30, 150),   // 큰 범퍼는 고득점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];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this.slings = [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new Slingshot(70, 560, 130, 646),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new Slingshot(358, 560, 298, 646),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];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9 · 테이블 구성과 게임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발사 시스템 — 게이지 충전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SPACE keydown(공이 대기 상태일 때): charging = true.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update: launchPower를 초당 1.2씩 증가, 최대 1.0 — 약 0.83초면 풀차지.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SPACE keyup: 속도 (0, −(700 + 900×power)) 부여, inPlay = true.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최소 700 ~ 최대 1600px/s — 최소치도 아치에 닿을 만큼은 되도록 설계.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게이지 바는 render에서 fillRect 두 장(배경 + 초록 게이지)으로 그린다.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9 · 테이블 구성과 게임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점수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addScore(s) 메서드 하나로 단일화 — 모든 득점 경로가 한 문을 지난다.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범퍼 100점 (큰 범퍼 150점), 슬링샷 30점.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확장 포인트: 콤보 배수, 연속 히트 보너스를 addScore 한 곳만 고쳐 구현 가능.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HUD: 왼쪽 위 SCORE, 오른쪽 위 남은 공(● 반복 문자열).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9 · 테이블 구성과 게임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공 관리 — 드레인과 게임 오버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드레인 판정: ball.pos.y &gt; 800 + 공지름 — 화면 완전히 아래로 사라진 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 소모: balls-- → 남아 있으면 발사 레인에서 리셋, 0이면 gameOver = true.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게임 오버 화면: 반투명 검정 오버레이 + 최종 점수 + 재시작 안내.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재시작(SPACE): 점수/공 초기화 — restart() 한 곳에서 처리.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9 · 테이블 구성과 게임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상태 기계로 본 게임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대기(inPlay=false): 게이지 충전 가능, 물리 정지.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플레이(inPlay=true): 물리·충돌·점수 활성.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레인 복귀: 플레이 중 레인에서 정지 → 대기로 전이.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드레인: 플레이 → (공 남음) 대기 / (공 소진) 게임오버.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게임오버: 입력은 SPACE(재시작)만 유효.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명시적 enum 없이 inPlay·gameOver 두 불리언으로 표현한 미니 상태 기계다.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9 · 테이블 구성과 게임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그리기 순서와 레이어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render 순서 = z순서: 벽(뒤) → 슬링샷 → 범퍼 → 플리퍼 → 공 → 게이지 → HUD → 오버레이(앞).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공을 플리퍼보다 나중에 그리는 이유: 접촉 순간 공이 가려지면 어색하다.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게임오버 오버레이가 가장 마지막 — 모든 것을 덮는다.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이펙트(flash)는 해당 객체의 draw 안에서 색만 바꿔 처리 — 레이어 추가 없이.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9 · 테이블 구성과 게임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이펙트 — 최소 비용의 타격감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범퍼: 피격 시 0.15초간 빨강→노랑. flash 타이머는 update에서 감소.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슬링샷: 0.12초간 보라→노랑.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타이머 패턴: flash = 지속시간 설정 → 매 프레임 max(0, flash−dt) → draw에서 flash&gt;0 검사.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단순한 패턴이 '반응하는 기계' 느낌의 8할을 만든다 — 파티클은 14장 확장 과제.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9 · 테이블 구성과 게임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 오브젝트 통합 — Game.update 다시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① 게이지 충전 (charging일 때).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② 플리퍼·범퍼·슬링샷의 자체 상태 갱신 (공과 무관하게 항상).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③ 공이 플레이 중일 때만: 서브스텝 4회 (적분 + 4종 충돌).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④ 레인 복귀 판정 → ⑤ 드레인 판정.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순서가 곧 인과: 플리퍼 각도가 먼저 갱신되어야 이번 스텝의 충돌이 올바르다.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9 · 테이블 구성과 게임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[연습] 나만의 테이블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1: 범퍼를 5개로 늘리고 점수를 차등 배치해 보라.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2: 왼쪽에도 발사 레인을 만들어 보라 — 어떤 벽이 더 필요한가?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3: 깔때기 각도를 10° 완만하게 — 난이도가 어느 쪽으로 움직이는가?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연습 4: 아웃레인(플리퍼 옆으로 빠지는 죽음의 길)을 추가해 진짜 핀볼처럼 만들어 보라.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9 · 테이블 구성과 게임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9장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테이블은 buildTable 한 함수에 모인 데이터다 — 로직과 분리.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연결부 좌표 공유, 대칭은 수식으로, 매직 넘버에는 이름을.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발사(게이지) → 플레이(서브스텝 물리) → 드레인/복귀 → 게임오버의 상태 흐름.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그리기 순서가 z순서, flash 타이머가 타격감.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다음 장: 지금까지의 모든 조각을 전체 코드로 통독한다.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9 · 테이블 구성과 게임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B942"/>
                </a:solidFill>
                <a:latin typeface="Malgun Gothic"/>
              </a:rPr>
              <a:t>CHAPTER 10</a:t>
            </a:r>
          </a:p>
          <a:p>
            <a:pPr>
              <a:spcBef>
                <a:spcPts val="1400"/>
              </a:spcBef>
            </a:pPr>
            <a:r>
              <a:rPr sz="4000" b="1">
                <a:solidFill>
                  <a:srgbClr val="E8ECFF"/>
                </a:solidFill>
                <a:latin typeface="Malgun Gothic"/>
              </a:rPr>
              <a:t>전체 소스 코드 워크스루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9FB0E8"/>
                </a:solidFill>
                <a:latin typeface="Malgun Gothic"/>
              </a:rPr>
              <a:t>pinball.html 의 자바스크립트 전체를 처음부터 끝까지 순서대로 읽는다. (총 440줄, 슬라이드당 최대 14줄)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01 — 1~10행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 1  "use strict";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 2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 3  /* =========================================================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 4   * 1. 벡터 유틸리티 (Vector Math)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 5   * 모든 물리 계산의 기반. 불변(immutable) 스타일로 새 벡터를 반환한다.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 6   * ========================================================= */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 7  class Vec2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 8    constructor(x = 0, y = 0) { this.x = x; this.y = y;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 9    add(v)      { return new Vec2(this.x + v.x, this.y + v.y);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10    sub(v)      { return new Vec2(this.x - v.x, this.y - v.y);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02 — 11~20행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11    scale(s)    { return new Vec2(this.x * s, this.y * s);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12    dot(v)      { return this.x * v.x + this.y * v.y; }          // 내적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13    cross(v)    { return this.x * v.y - this.y * v.x; }          // 2D 외적(스칼라)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14    len()       { return Math.hypot(this.x, this.y);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15    lenSq()     { return this.x * this.x + this.y * this.y;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16    norm()      { const l = this.len(); return l &gt; 1e-9 ? this.scale(1 / l) : new Vec2();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17    perp()      { return new Vec2(-this.y, this.x); }            // 반시계 90도 수직 벡터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18    neg()       { return new Vec2(-this.x, -this.y);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19    // 삼각함수를 이용한 회전: 회전행렬 [cosθ -sinθ; sinθ cosθ]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20    rotate(theta) 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03 — 21~30행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21      const c = Math.cos(theta), s = Math.sin(theta);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22      return new Vec2(this.x * c - this.y * s, this.x * s + this.y * c);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23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24    angle()     { return Math.atan2(this.y, this.x); }           // 벡터의 방향각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25    static fromAngle(theta, len = 1) {                            // 극좌표 → 직교좌표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26      return new Vec2(Math.cos(theta) * len, Math.sin(theta) * len);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27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28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29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30  /* 반사 공식: v' = v - (1+e)(v·n)n  (n은 단위 법선, e는 반발계수) */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04 — 31~40행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31  function reflect(v, n, e)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32    const vn = v.dot(n);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33    if (vn &gt;= 0) return v;            // 이미 표면에서 멀어지는 중이면 그대로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34    return v.sub(n.scale((1 + e) * vn));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35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36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37  /* 점 p에서 선분 a-b 위의 최근접점을 구한다.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38   * t = clamp(((p-a)·(b-a)) / |b-a|², 0, 1) */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39  function closestPointOnSegment(p, a, b)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40    const ab = b.sub(a);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05 — 41~50행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41    const t = Math.max(0, Math.min(1, p.sub(a).dot(ab) / ab.lenSq()));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42    return a.add(ab.scale(t));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43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44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45  /* =========================================================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46   * 2. 게임 상수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47   * ========================================================= */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48  const W = 480, H = 800;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49  const GRAVITY      = new Vec2(0, 1400);  // px/s²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50  const BALL_RADIUS  = 11;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06 — 51~60행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51  const WALL_E       = 0.55;   // 벽 반발계수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52  const BUMPER_E     = 1.15;   // 범퍼는 에너지를 추가로 준다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53  const FLIPPER_E    = 0.35;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54  const AIR_DRAG     = 0.999;  // 프레임당 감쇠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55  const MAX_SPEED    = 1600;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56  const LAUNCH_X     = W - 26; // 발사 레인 중심 x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57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58  /* =========================================================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59   * 3. 게임 오브젝트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60   * ========================================================= */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07 — 61~70행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61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62  /* 공 */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63  class Ball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64    constructor() { this.reset();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65    reset()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66      this.pos = new Vec2(LAUNCH_X, H - 80);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67      this.vel = new Vec2(0, 0);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68      this.inPlay = false;   // 발사 전 상태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69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70    update(dt) 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08 — 71~80행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71      if (!this.inPlay) return;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72      // 반암시적 오일러 적분: v += a·dt, p += v·dt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73      this.vel = this.vel.add(GRAVITY.scale(dt));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74      this.vel = this.vel.scale(AIR_DRAG);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75      const sp = this.vel.len();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76      if (sp &gt; MAX_SPEED) this.vel = this.vel.scale(MAX_SPEED / sp);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77      this.pos = this.pos.add(this.vel.scale(dt));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78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79    draw(ctx)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80      const g = ctx.createRadialGradient(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09 — 81~90행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81        this.pos.x - 4, this.pos.y - 4, 2, this.pos.x, this.pos.y, BALL_RADIUS);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82      g.addColorStop(0, "#ffffff");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83      g.addColorStop(1, "#8a94b8");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84      ctx.fillStyle = g;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85      ctx.beginPath();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86      ctx.arc(this.pos.x, this.pos.y, BALL_RADIUS, 0, Math.PI * 2);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87      ctx.fill();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88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89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90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10 — 91~100행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91  /* 벽: 선분 하나. 법선은 (b-a)의 수직 벡터 */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92  class Wall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93    constructor(ax, ay, bx, by, e = WALL_E)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94      this.a = new Vec2(ax, ay);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95      this.b = new Vec2(bx, by);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96      this.e = 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97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98    collide(ball)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99      const cp = closestPointOnSegment(ball.pos, this.a, this.b);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100      const d  = ball.pos.sub(cp);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11 — 101~110행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101      const dist = d.len();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102      if (dist &gt;= BALL_RADIUS || dist &lt; 1e-9) return false;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103      const n = d.scale(1 / dist);                       // 충돌 법선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104      ball.pos = ball.pos.add(n.scale(BALL_RADIUS - dist)); // 침투 해소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105      ball.vel = reflect(ball.vel, n, this.e);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106      return true;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107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108    draw(ctx)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109      ctx.strokeStyle = "#3d4c8f";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110      ctx.lineWidth = 4;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12 — 111~120행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111      ctx.lineCap = "round";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112      ctx.beginPath();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113      ctx.moveTo(this.a.x, this.a.y);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114      ctx.lineTo(this.b.x, this.b.y);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115      ctx.stroke();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116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117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118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119  /* 범퍼: 원. 부딪히면 점수를 주고 강하게 튕겨낸다 */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120  class Bumper 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13 — 121~130행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121    constructor(x, y, r, score = 100)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122      this.pos = new Vec2(x, y);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123      this.r = r;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124      this.score = score;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125      this.flash = 0;        // 피격 이펙트 타이머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126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127    collide(ball, game)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128      const d = ball.pos.sub(this.pos);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129      const dist = d.len();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130      const minDist = this.r + BALL_RADIUS;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14 — 131~140행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131      if (dist &gt;= minDist || dist &lt; 1e-9) return false;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132      const n = d.scale(1 / dist);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133      ball.pos = this.pos.add(n.scale(minDist));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134      ball.vel = reflect(ball.vel, n, BUMPER_E);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135      // 최소 튕김 속도 보장: 법선 방향 성분을 강제로 키운다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136      const vn = ball.vel.dot(n);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137      if (vn &lt; 420) ball.vel = ball.vel.add(n.scale(420 - vn));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138      game.addScore(this.score);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139      this.flash = 0.15;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140      return true;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15 — 141~150행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141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142    update(dt) { this.flash = Math.max(0, this.flash - dt);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143    draw(ctx)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144      ctx.fillStyle = this.flash &gt; 0 ? "#ffd75e" : "#e2534f";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145      ctx.beginPath();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146      ctx.arc(this.pos.x, this.pos.y, this.r, 0, Math.PI * 2);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147      ctx.fill();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148      ctx.strokeStyle = "#ffffff55";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149      ctx.lineWidth = 3;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150      ctx.stroke();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16 — 151~160행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151      ctx.fillStyle = "#10142b";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152      ctx.beginPath();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153      ctx.arc(this.pos.x, this.pos.y, this.r * 0.45, 0, Math.PI * 2);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154      ctx.fill();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155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156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157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158  /* 플리퍼: 피벗을 중심으로 회전하는 캡슐(두꺼운 선분).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159   * 삼각함수로 끝점을 계산하고, 각속도 ω 로 접촉점의 표면 속도를 구한다. */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160  class Flipper 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17 — 161~170행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161    constructor(px, py, length, restAngle, activeAngle, key)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162      this.pivot = new Vec2(px, py);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163      this.length = length;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164      this.restAngle = restAngle;       // 대기 각도 (라디안)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165      this.activeAngle = activeAngle;   // 눌렀을 때 각도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166      this.angle = restAngle;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167      this.omega = 0;                   // 각속도 (rad/s)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168      this.speed = 22;                  // 회전 속도 (rad/s)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169      this.pressed = false;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170      this.key = key;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18 — 171~180행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171      this.thick = 10;                  // 캡슐 반두께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172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173    tip() { // 끝점 = 피벗 + 길이 · (cosθ, sinθ)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174      return this.pivot.add(Vec2.fromAngle(this.angle, this.length));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175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176    update(dt)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177      const target = this.pressed ? this.activeAngle : this.restAngle;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178      const diff = target - this.angle;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179      const step = Math.sign(diff) * this.speed * dt;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180      if (Math.abs(step) &gt;= Math.abs(diff)) 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19 — 181~190행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181        this.omega = diff / dt;          // 마지막 프레임의 실제 각속도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182        this.angle = target;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183      } else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184        this.omega = Math.sign(diff) * this.speed;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185        this.angle += step;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186  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187      if (Math.abs(diff) &lt; 1e-4) this.omega = 0;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188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189    collide(ball)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190      const a = this.pivot, b = this.tip();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20 — 191~200행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191      const cp = closestPointOnSegment(ball.pos, a, b);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192      const d = ball.pos.sub(cp);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193      const dist = d.len();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194      const minDist = BALL_RADIUS + this.thick;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195      if (dist &gt;= minDist || dist &lt; 1e-9) return false;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196      const n = d.scale(1 / dist);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197      ball.pos = ball.pos.add(n.scale(minDist - dist));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198      // 접촉점의 표면 속도: v = ω × r  →  2D에서는 ω · perp(r)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199      const r = cp.sub(this.pivot);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200      const surfaceVel = r.perp().scale(this.omega);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21 — 201~210행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201      // 상대 속도로 반사한 뒤 표면 속도를 되돌려 준다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202      const relVel = ball.vel.sub(surfaceVel);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203      ball.vel = reflect(relVel, n, FLIPPER_E).add(surfaceVel);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204      return true;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205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206    draw(ctx)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207      const b = this.tip();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208      ctx.strokeStyle = "#f5b942";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209      ctx.lineWidth = this.thick * 2;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210      ctx.lineCap = "round";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22 — 211~220행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211      ctx.beginPath();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212      ctx.moveTo(this.pivot.x, this.pivot.y);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213      ctx.lineTo(b.x, b.y);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214      ctx.stroke();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215      ctx.fillStyle = "#c78b1e";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216      ctx.beginPath();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217      ctx.arc(this.pivot.x, this.pivot.y, this.thick * 0.8, 0, Math.PI * 2);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218      ctx.fill();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219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220 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23 — 221~230행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221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222  /* 슬링샷: 삼각형 벽 + 강한 반발. 플리퍼 위쪽 좌우에 배치 */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223  class Slingshot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224    constructor(ax, ay, bx, by, score = 30)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225      this.wall = new Wall(ax, ay, bx, by, 1.0);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226      this.score = score;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227      this.flash = 0;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228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229    collide(ball, game)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230      const before = ball.vel.len();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24 — 231~240행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231      if (!this.wall.collide(ball)) return false;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232      // 발사면 법선 방향으로 최소 속도 보장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233      const n = ball.pos.sub(closestPointOnSegment(ball.pos, this.wall.a, this.wall.b)).norm();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234      if (ball.vel.len() &lt; before + 200) ball.vel = ball.vel.add(n.scale(300));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235      game.addScore(this.score);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236      this.flash = 0.12;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237      return true;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238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239    update(dt) { this.flash = Math.max(0, this.flash - dt);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240    draw(ctx) 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25 — 241~250행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241      ctx.strokeStyle = this.flash &gt; 0 ? "#ffd75e" : "#7a4fd6";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242      ctx.lineWidth = 6;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243      ctx.lineCap = "round";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244      ctx.beginPath();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245      ctx.moveTo(this.wall.a.x, this.wall.a.y);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246      ctx.lineTo(this.wall.b.x, this.wall.b.y);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247      ctx.stroke();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248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249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250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26 — 251~260행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251  /* =========================================================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252   * 4. 게임 본체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253   * ========================================================= */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254  class Game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255    constructor(canvas)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256      this.canvas = canvas;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257      this.ctx = canvas.getContext("2d");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258      this.ball = new Ball();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259      this.score = 0;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260      this.balls = 3;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27 — 261~270행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261      this.launchPower = 0;     // 스페이스 홀드 게이지 0~1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262      this.charging = false;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263      this.gameOver = false;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264      this.buildTable();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265      this.bindInput();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266      this.last = performance.now();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267      requestAnimationFrame(t =&gt; this.frame(t));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268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269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270    /* 테이블 지오메트리 구성. 상단 곡면은 삼각함수로 호를 선분으로 근사한다. */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28 — 271~280행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271    buildTable()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272      this.walls = [];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273      const lane = W - 52;   // 발사 레인 왼쪽 벽 x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274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275      // 좌우 외벽 (상단 아치와 y=240 에서 만난다)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276      this.walls.push(new Wall(6, H, 6, 240));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277      this.walls.push(new Wall(W - 6, H - 24, W - 6, 240));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278      // 발사 레인 내벽과 레인 바닥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279      this.walls.push(new Wall(lane, H - 40, lane, 320));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280      this.walls.push(new Wall(lane, H - 24, W - 6, H - 24));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29 — 281~290행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281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282      // 상단 반원 아치: 중심 (W/2, 240), 반경 W/2-6, 180°→360° 를 22개 선분으로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283      const cx = W / 2, cy = 240, R = W / 2 - 6, SEG = 22;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284      for (let i = 0; i &lt; SEG; i++)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285        const t0 = Math.PI + (Math.PI * i) / SEG;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286        const t1 = Math.PI + (Math.PI * (i + 1)) / SEG;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287        this.walls.push(new Wall(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288          cx + R * Math.cos(t0), cy + R * Math.sin(t0),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289          cx + R * Math.cos(t1), cy + R * Math.sin(t1)));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290     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30 — 291~300행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291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292      // 하단 깔때기(아웃레인): 플리퍼 쪽으로 공을 모은다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293      this.walls.push(new Wall(6, 620, 134, 712));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294      this.walls.push(new Wall(lane, 620, 294, 712));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295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296      // 플리퍼: 대기 시 아래로 32°, 작동 시 위로 34° (오른쪽은 좌우 대칭 각도)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297      const D = Math.PI / 180;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298      this.flippers = [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299        new Flipper(140, 726, 72,  32 * D,  -34 * D, "left"),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300        new Flipper(288, 726, 72, 148 * D, 214 * D, "right"),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31 — 301~310행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301      ];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302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303      // 범퍼 3개 (상단 삼각 배치)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304      this.bumpers = [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305        new Bumper(150, 250, 26, 100),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306        new Bumper(280, 220, 26, 100),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307        new Bumper(215, 340, 30, 150),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308      ];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309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310      // 슬링샷 (플리퍼 위 좌우)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32 — 311~320행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311      this.slings = [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312        new Slingshot(70, 560, 130, 646),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313        new Slingshot(358, 560, 298, 646),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314      ];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315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316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317    bindInput()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318      addEventListener("keydown", e =&gt;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319        if (e.repeat) return;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320        if (e.code === "ArrowLeft"  || e.code === "KeyZ") this.flippers[0].pressed = true;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33 — 321~330행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321        if (e.code === "ArrowRight" || e.code === "Slash") this.flippers[1].pressed = true;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322        if (e.code === "Space")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323          if (this.gameOver) { this.restart(); return;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324          if (!this.ball.inPlay) this.charging = true;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325    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326      });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327      addEventListener("keyup", e =&gt;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328        if (e.code === "ArrowLeft"  || e.code === "KeyZ") this.flippers[0].pressed = false;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329        if (e.code === "ArrowRight" || e.code === "Slash") this.flippers[1].pressed = false;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330        if (e.code === "Space" &amp;&amp; this.charging) 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34 — 331~340행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331          // 발사: 게이지에 비례한 초기 속도를 위로 준다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332          this.ball.vel = new Vec2(0, -(700 + 900 * this.launchPower));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333          this.ball.inPlay = true;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334          this.charging = false;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335          this.launchPower = 0;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336    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337      });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338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339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340    addScore(s) { this.score += s;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35 — 341~350행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341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342    restart()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343      this.score = 0;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344      this.balls = 3;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345      this.gameOver = false;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346      this.ball.reset();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347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348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349    frame(now)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350      // dt를 초 단위로, 탭 전환 등으로 인한 폭주 방지 위해 상한을 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36 — 351~360행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351      let dt = Math.min((now - this.last) / 1000, 1 / 30);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352      this.last = now;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353      this.update(dt);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354      this.render();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355      requestAnimationFrame(t =&gt; this.frame(t));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356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357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358    update(dt)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359      if (this.charging) this.launchPower = Math.min(1, this.launchPower + dt * 1.2);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360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37 — 361~370행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361      this.flippers.forEach(f =&gt; f.update(dt));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362      this.bumpers.forEach(b =&gt; b.update(dt));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363      this.slings.forEach(s =&gt; s.update(dt));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364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365      if (!this.ball.inPlay || this.gameOver) return;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366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367      // 서브스텝: 빠른 공이 얇은 벽을 뚫는 터널링을 줄인다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368      const STEPS = 4;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369      const sdt = dt / STEPS;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370      for (let i = 0; i &lt; STEPS; i++) 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38 — 371~380행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371        this.ball.update(sdt);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372        this.walls.forEach(w =&gt; w.collide(this.ball));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373        this.bumpers.forEach(b =&gt; b.collide(this.ball, this));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374        this.slings.forEach(s =&gt; s.collide(this.ball, this));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375        this.flippers.forEach(f =&gt; f.collide(this.ball));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376  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377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378      // 공이 발사 레인으로 되돌아와 거의 멈추면 발사 대기 상태로 전환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379      const lane = W - 52;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380      if (this.ball.pos.x &gt; lane &amp;&amp; this.ball.pos.y &gt; H - 120 &amp;&amp;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39 — 381~390행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381          this.ball.vel.len() &lt; 60)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382        this.ball.reset();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383  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384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385      // 드레인: 공이 바닥 아래로 빠지면 공 하나 소모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386      if (this.ball.pos.y &gt; H + BALL_RADIUS * 2)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387        this.balls--;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388        if (this.balls &lt;= 0) this.gameOver = true;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389        else this.ball.reset();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390     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40 — 391~400행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391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392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393    render()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394      const ctx = this.ctx;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395      ctx.clearRect(0, 0, W, H);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396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397      this.walls.forEach(w =&gt; w.draw(ctx));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398      this.slings.forEach(s =&gt; s.draw(ctx));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399      this.bumpers.forEach(b =&gt; b.draw(ctx));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400      this.flippers.forEach(f =&gt; f.draw(ctx));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41 — 401~410행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401      this.ball.draw(ctx);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402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403      // 발사 게이지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404      if (this.charging)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405        ctx.fillStyle = "#2a3155";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406        ctx.fillRect(LAUNCH_X - 8, H - 200, 16, 130);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407        ctx.fillStyle = "#5ee87f";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408        const h = 130 * this.launchPower;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409        ctx.fillRect(LAUNCH_X - 8, H - 70 - h, 16, h);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410     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42 — 411~420행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411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412      // HUD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413      ctx.fillStyle = "#e8ecff";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414      ctx.font = "bold 22px monospace";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415      ctx.textAlign = "left";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416      ctx.fillText(`SCORE ${this.score}`, 18, 34);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417      ctx.textAlign = "right";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418      ctx.fillText(`BALL ${"●".repeat(Math.max(0, this.balls))}`, W - 18, 34);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419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420      if (!this.ball.inPlay &amp;&amp; !this.gameOver) 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43 — 421~430행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421        ctx.textAlign = "center";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422        ctx.font = "16px monospace";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423        ctx.fillStyle = "#9fb0e8";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424        ctx.fillText("SPACE 길게 눌러 발사 · ←/→ 플리퍼", W / 2, H - 24);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425  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426      if (this.gameOver)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427        ctx.fillStyle = "#000000aa";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428        ctx.fillRect(0, 0, W, H);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429        ctx.textAlign = "center";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430        ctx.fillStyle = "#ffffff";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44 — 431~440행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431        ctx.font = "bold 40px monospace";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432        ctx.fillText("GAME OVER", W / 2, H / 2 - 20);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433        ctx.font = "20px monospace";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434        ctx.fillText(`FINAL SCORE: ${this.score}`, W / 2, H / 2 + 24);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435        ctx.fillText("SPACE 로 재시작", W / 2, H / 2 + 60);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436  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437  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438 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439 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440  new Game(document.getElementById("game"));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전체 코드 — HTML 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0E8"/>
                </a:solidFill>
                <a:latin typeface="Malgun Gothic"/>
              </a:rPr>
              <a:t>캔버스 요소와 스타일. &lt;script&gt; 내부는 앞의 워크스루 참조.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789920" cy="452628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&lt;!DOCTYPE html&gt;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&lt;html lang="ko"&gt;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&lt;head&gt;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&lt;meta charset="UTF-8"&gt;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&lt;title&gt;Vanilla JS Canvas Pinball&lt;/title&gt;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&lt;style&gt;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html, body { margin: 0; padding: 0; background: #0b0e1a; height: 100%; overflow: hidden;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body { display: flex; align-items: center; justify-content: center;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  canvas { background: #10142b; box-shadow: 0 0 40px rgba(80,120,255,.35); border-radius: 12px; 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&lt;/style&gt;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&lt;/head&gt;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&lt;body&gt;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&lt;canvas id="game" width="480" height="800"&gt;&lt;/canvas&gt;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&lt;script&gt;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8ECFF"/>
                </a:solidFill>
                <a:latin typeface="Consolas"/>
              </a:rPr>
              <a:t>"use strict";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10 · 전체 소스 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B942"/>
                </a:solidFill>
                <a:latin typeface="Malgun Gothic"/>
              </a:rPr>
              <a:t>CHAPTER 11</a:t>
            </a:r>
          </a:p>
          <a:p>
            <a:pPr>
              <a:spcBef>
                <a:spcPts val="1400"/>
              </a:spcBef>
            </a:pPr>
            <a:r>
              <a:rPr sz="4000" b="1">
                <a:solidFill>
                  <a:srgbClr val="E8ECFF"/>
                </a:solidFill>
                <a:latin typeface="Malgun Gothic"/>
              </a:rPr>
              <a:t>함수별 심화 해설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9FB0E8"/>
                </a:solidFill>
                <a:latin typeface="Malgun Gothic"/>
              </a:rPr>
              <a:t>코드 리뷰의 눈으로 다시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Chapter 11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Vec2 설계 리뷰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reflect / closestPointOnSegment 리뷰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Ball 리뷰 — 가장 단순한 물리체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Wall 리뷰 — 4박자의 교과서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Bumper 리뷰 — 능동적 충돌체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Flipper 리뷰 ① — update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Flipper 리뷰 ② — collide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Slingshot 리뷰 — 합성의 본보기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Game.buildTable 리뷰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10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Game.update 리뷰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Game.render 리뷰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입력 처리 리뷰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튜닝 상수 총정리표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이 코드가 지키는 원칙 5가지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코드 계보 — 어떤 장이 어떤 코드가 되었나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11장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 · 함수별 심화 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Vec2 설계 리뷰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8개 연산 + 회전 3종(rotate, angle, fromAngle) — 필요한 것만 담은 최소 API.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불변 스타일: 모든 메서드가 새 객체 반환. 버그 표면적 최소화가 최우선 가치.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정규화의 1e-9 가드, hypot 사용 — 수치 안전을 기본값으로.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아쉬운 점(의도된 타협): 프레임당 수백 개의 임시 객체 — 13장에서 개선안을 논한다.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 · 함수별 심화 해설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reflect / closestPointOnSegment 리뷰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클래스 밖 순수 함수로 둔 이유: 상태가 없고, 모든 충돌체가 공유하기 때문.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순수 함수는 테스트가 쉽다 — 12장의 단위 테스트가 이 둘을 직접 검증한다.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reflect의 vn≥0 가드는 '정책'이 함수 안에 있는 것 — 호출자가 잊을 수 없다.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교훈: 재사용되는 수학은 클래스 메서드보다 순수 함수가 낫다.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 · 함수별 심화 해설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Ball 리뷰 — 가장 단순한 물리체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상태는 pos, vel, inPlay 셋뿐. 충돌 로직이 하나도 없다!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충돌은 전부 '상대방(벽·범퍼·플리퍼)'의 collide가 처리 — 책임의 역전.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구조 덕에 공을 여러 개로 늘리는 것(멀티볼)이 쉬워진다: 루프만 추가.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reset()이 초기화를 독점 — 시작 위치가 바뀌면 한 곳만 고친다.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 · 함수별 심화 해설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Wall 리뷰 — 4박자의 교과서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감지→법선→보정→반사가 아홉 줄에 정확히 들어 있다.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반발계수를 생성자 인자로 받아(기본 0.55) 슬링샷이 e=1.0 벽을 재사용한다.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collide가 불리언을 반환 — 호출자가 '맞았는지' 알 수 있어 확장(사운드 등)에 유리.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draw까지 합쳐 25줄 — 한 클래스는 한 화면을 넘지 않게.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 · 함수별 심화 해설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Bumper 리뷰 — 능동적 충돌체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Wall과의 차이: 원-원 충돌, e&gt;1, 최소 킥 속도, 점수, 플래시.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collide(ball, game) — game을 인자로 받아 점수를 준다. 의존성이 명시적.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침투 해소를 '표면 위 정확한 위치'로 스냅(pos = 중심 + n̂·합반지름) — 원-원의 정석.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flash 타이머가 update/draw로 분리 — 상태와 표현의 분리 원칙 유지.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 · 함수별 심화 해설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Flipper 리뷰 ① —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목표각 추종은 사실 P제어(비례 제어)의 단순형 — 일정 속도 접근 + 스냅.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diff/dt로 마지막 프레임 ω를 보정하는 디테일이 타격 물리의 정확성을 지킨다.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1e-4 라디안 데드존으로 도달 후 미세 진동 차단.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왼쪽/오른쪽이 같은 코드 — Math.sign 덕분. 대칭을 데이터(각도)로 밀어낸 설계.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 · 함수별 심화 해설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Flipper 리뷰 ② — collide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7장 캡슐 충돌 + 8장 상대속도 반사의 결합 — 이 게임 최고 밀도의 12줄.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surfaceVel 계산에 접촉점(cp)을 쓰는 것이 중요 — 끝점이 아니라 '실제 닿은 곳'의 속도.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reflect를 재사용하므로 vn 가드도 자동 상속 — 코드 재사용이 버그 가드도 재사용.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침투 해소가 반사보다 먼저 — 순서가 바뀌면 보정된 위치와 속도가 불일치.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 · 함수별 심화 해설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Slingshot 리뷰 — 합성의 본보기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Wall을 상속하지 않고 내부에 품는다(composition over inheritance).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이유: 슬링샷은 벽의 '일종'이 아니라 벽을 '이용하는' 장치 — is-a가 아닌 has-a.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충돌 후 처리(킥, 점수, 플래시)만 자신이 담당.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before 속력을 기억해 '충분히 튕겼나' 판단하는 소박한 휴리스틱도 눈여겨보라.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 · 함수별 심화 해설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Game.buildTable 리뷰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모든 좌표 상수가 여기 모여 있다 — 사실상의 레벨 데이터 파일.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아치 생성 루프는 '데이터를 코드로 생성'하는 예 — 22개 좌표를 손으로 쓰지 않는다.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개선 아이디어: walls/bumpers 배열을 JSON으로 빼면 테이블 에디터(14장)로 가는 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 · 함수별 심화 해설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Game.update 리뷰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게이지 → 오브젝트 자체 갱신 → 서브스텝(적분+충돌) → 레인 복귀 → 드레인.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충돌 검사 순서(벽→범퍼→슬링샷→플리퍼)는 순차 해소 — 7장에서 논의한 타협.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gameOver·!inPlay 조기 반환으로 불필요한 물리를 건너뛴다.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update에는 그리기가, render에는 상태 변경이 한 줄도 없다 — 3장 원칙 준수 확인.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 · 함수별 심화 해설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Game.render 리뷰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clearRect → 오브젝트 draw 위임 → 게이지 → HUD → 오버레이. 40줄.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각 오브젝트가 자기 draw를 소유 — render는 순서만 지휘하는 지휘자.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조건부 UI(게이지, 안내문, 게임오버)는 전부 상태 검사로 — 별도 씬 시스템 불필요.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규모에서 씬 매니저를 도입하는 것은 과설계다 — 단순함도 설계다.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 · 함수별 심화 해설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입력 처리 리뷰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이벤트→플래그 패턴(3장)이 유일한 입력 창구.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발사가 keyup에서 일어나는 디테일 — '눌러서 조준, 떼서 발사'의 표준 감각.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게임오버 상태에서 SPACE의 의미가 재시작으로 바뀐다 — 상태별 입력 해석.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개선 여지: 키 매핑 객체로 빼면 커스터마이징 가능(14장 과제).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 · 함수별 심화 해설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튜닝 상수 총정리표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GRAVITY 1400 — 낙하 감각.  AIR_DRAG 0.999 — 에너지 수렴.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MAX_SPEED 1600 — 터널링·게임성 상한.  BALL_RADIUS 11.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WALL_E 0.55 / FLIPPER_E 0.35 / BUMPER_E 1.15 — 충돌체 성격.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플리퍼 speed 22rad/s, L 72, 갭 26px.  범퍼 킥 420, 슬링샷 킥 300.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발사 700~1600.  서브스텝 4.  이 열여덟 개 숫자가 게임의 '느낌' 전부다.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 · 함수별 심화 해설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이 코드가 지키는 원칙 5가지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① 수학은 순수 함수로, 상태는 클래스로.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② update와 render의 완전 분리.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③ 모든 충돌은 감지→법선→보정→반사의 4박자.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④ 수치 가드 5종 세트(dt 클램프, 속도 상한, 0나눗셈, 재반사, 침투 해소).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⑤ 데이터(좌표·상수)와 로직의 분리.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다섯을 지키면 어떤 2D 아케이드 물리 게임도 같은 골격으로 만들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 · 함수별 심화 해설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코드 계보 — 어떤 장이 어떤 코드가 되었나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2장 Canvas → 모든 draw 메서드, render.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3장 루프 → frame, dt, 입력 플래그.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4장 벡터 → Vec2, reflect, 모든 물리 식.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5장 삼각함수 → tip(), fromAngle, 아치 생성, ω.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6장 물리 → Ball.update, 서브스텝, 상수들.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7장 충돌 → closestPointOnSegment, 4종 collide.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8장 플리퍼 → Flipper 전체.  9장 → buildTable, Game 규칙.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 · 함수별 심화 해설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11장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코드 리뷰의 관점: 책임 분리, 재사용, 수치 안전, 상태·표현 분리.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Ball이 충돌을 모르는 구조가 멀티볼 확장의 열쇠.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Slingshot의 합성, Flipper의 ω 보정 같은 디테일이 완성도를 만든다.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18개의 튜닝 상수 = 게임 디자인의 전부 — 숫자를 두려워하지 말 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11 · 함수별 심화 해설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B942"/>
                </a:solidFill>
                <a:latin typeface="Malgun Gothic"/>
              </a:rPr>
              <a:t>CHAPTER 12</a:t>
            </a:r>
          </a:p>
          <a:p>
            <a:pPr>
              <a:spcBef>
                <a:spcPts val="1400"/>
              </a:spcBef>
            </a:pPr>
            <a:r>
              <a:rPr sz="4000" b="1">
                <a:solidFill>
                  <a:srgbClr val="E8ECFF"/>
                </a:solidFill>
                <a:latin typeface="Malgun Gothic"/>
              </a:rPr>
              <a:t>테스트와 디버깅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9FB0E8"/>
                </a:solidFill>
                <a:latin typeface="Malgun Gothic"/>
              </a:rPr>
              <a:t>브라우저 없이 물리를 검증하기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Chapter 12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게임을 어떻게 테스트하나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헤드리스 테스트 — 캔버스 없이 게임 돌리기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브라우저 API 스텁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무엇을 검사하나 — 불변식(invariant)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단위 테스트 — 순수 함수부터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실제 테스트 실행 결과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시각화 디버깅 — 물리를 눈으로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물리 버그 진단표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로그 전략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10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12장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12 · 테스트와 디버깅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게임을 어떻게 테스트하나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'플레이해 보면 되지'의 함정: 우연히 안 밟은 코드 경로가 반드시 있다.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물리 버그는 재현이 어렵다 — 같은 상황을 다시 만들기 힘들기 때문.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전략: ① 순수 함수는 단위 테스트 ② 물리 전체는 헤드리스 시뮬레이션 ③ 눈으로는 시각화 디버깅.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update/render 분리(3장)가 여기서 보상으로 돌아온다.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12 · 테스트와 디버깅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헤드리스 테스트 — 캔버스 없이 게임 돌리기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Node.js에는 DOM이 없다 → document, canvas, rAF를 가짜(stub)로 만든다.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ctx 스텁: 모든 메서드 호출을 그냥 삼키는 Proxy 객체.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rAF 스텁: 콜백을 저장했다가 수동으로 호출 — '시간을 우리가 지배'한다.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방식으로 30초 플레이를 1초 만에 시뮬레이션할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12 · 테스트와 디버깅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브라우저 API 스텁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789920" cy="489204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const ctxStub = new Proxy({},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get(t, prop)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if (prop === "createRadialGradient")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  return () =&gt; ({ addColorStop() {} });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  return () =&gt; {};          // 모든 그리기 호출을 무시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},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 set() { return true; 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});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global.document = { getElementById: () =&gt; canvasStub };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let rafCb = null;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global.requestAnimationFrame = cb =&gt; { rafCb = cb; };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// 프레임을 원하는 만큼 수동 진행: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function step(n) { for (let i = 0; i &lt; n; i++) { now += 16.7; rafCb(now); }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12 · 테스트와 디버깅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무엇을 검사하나 — 불변식(invariant)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불변식 = 어떤 순간에도 참이어야 하는 조건. 테스트의 뼈대.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게임의 불변식: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위치·속도에 NaN이 없다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공은 외벽 밖으로 나가지 않는다 (±공 반지름 여유)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아치를 뚫고 위로 탈출하지 않는다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플리퍼 갭은 공 지름보다 넓고 80px보다 좁다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30초 랜덤 플레이 시뮬 동안 매 프레임 검사한다.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12 · 테스트와 디버깅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단위 테스트 — 순수 함수부터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reflect((3,4), (0,−1), e=1) === (3,−4) — 거울 반사 검증.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closestPointOnSegment((−5,0), (0,0)→(10,0)) === (0,0) — clamp 검증.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수학 함수는 입력→출력이 결정적이라 테스트가 한 줄이다.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두 함수가 옳으면 충돌 시스템의 절반은 증명된 셈.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12 · 테스트와 디버깅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실제 테스트 실행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30초(1800프레임) 시뮬레이션, 플리퍼 난타 + 자동 재발사 조건.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NaN 발생: 없음.  공 x범위: 17.0~462.9 (벽 6/474 안쪽) — 통과.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 y 최소 23.9 — 아치 탈출 없음.  점수 1220점 발생 — 범퍼·슬링샷 작동 확인.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플리퍼 갭 25.9px — 공 지름 22px보다 넓음. 단위 테스트 2건 통과.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결과가 '완전히 동작하는 코드'라는 주장의 근거다.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12 · 테스트와 디버깅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시각화 디버깅 — 물리를 눈으로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디버그 모드(D 키): 속도 벡터, 충돌 법선, 최근접점을 화면에 덧그린다.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슬로모션(S 키): dt × 0.1 — 충돌 순간을 프레임 단위로 관찰.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일시정지 + 한 프레임 진행(P, N 키) — 물리 엔진 개발의 3종 신기.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구현 비용은 render에 20줄 — 버그 하나만 잡아도 본전을 뽑는다.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12 · 테스트와 디버깅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물리 버그 진단표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공이 사라짐 → NaN 오염. 정규화·나눗셈 가드부터 의심.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벽 뚫음 → 터널링. 속도 상한·서브스텝 수 확인.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벽에서 떨림 → 재반사(vn 가드 누락) 또는 침투 해소 누락.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점점 빨라짐 → 명시적 오일러 or e&gt;1 요소의 에너지 과잉 — 감쇠 확인.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플리퍼가 공을 못 때림 → ω가 계산에 안 실림 (표면 속도 누락).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12 · 테스트와 디버깅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로그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매 프레임 console.log는 그 자체가 렉의 원인 — 조건부 로그만.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충돌 '이벤트'만 기록: 시각, 대상, 법선, 전후 속도 — 링 버퍼에 최근 100건.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이상 감지 시 자동 덤프: NaN이나 탈출 감지 순간 링 버퍼를 출력하고 일시정지.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'무슨 일이 있었는지'를 사후에 재구성할 수 있는 최소 장치다.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12 · 테스트와 디버깅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12장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update/render 분리 → 스텁 3개로 헤드리스 테스트 가능.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순수 함수는 단위 테스트, 시스템은 불변식 + 장시간 시뮬.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시각화 디버깅(벡터·슬로모션·스텝 실행)은 물리 개발의 필수 장비.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버그 증상 → 원인 매핑표를 곁에 두라 — 대부분 5가지 가드 중 하나의 누락이다.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12 · 테스트와 디버깅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B942"/>
                </a:solidFill>
                <a:latin typeface="Malgun Gothic"/>
              </a:rPr>
              <a:t>CHAPTER 13</a:t>
            </a:r>
          </a:p>
          <a:p>
            <a:pPr>
              <a:spcBef>
                <a:spcPts val="1400"/>
              </a:spcBef>
            </a:pPr>
            <a:r>
              <a:rPr sz="4000" b="1">
                <a:solidFill>
                  <a:srgbClr val="E8ECFF"/>
                </a:solidFill>
                <a:latin typeface="Malgun Gothic"/>
              </a:rPr>
              <a:t>성능 최적화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9FB0E8"/>
                </a:solidFill>
                <a:latin typeface="Malgun Gothic"/>
              </a:rPr>
              <a:t>60fps를 지키는 기술 — 측정, GC, 렌더링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Chapter 13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최적화의 제1원칙 — 측정 먼저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병목 후보 ① — 벡터 객체 할당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가변 API — 할당 없는 핫패스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병목 후보 ② — 충돌 검사 O(n)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병목 후보 ③ — 렌더링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OffscreenCanvas와 더블 버퍼링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감쇠의 프레임률 독립화 — 미뤄둔 숙제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메모리와 로딩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모바일 대응 체크리스트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10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과최적화 경계선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13장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13 · 성능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최적화의 제1원칙 — 측정 먼저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추측 최적화는 코드만 망친다. 브라우저 DevTools Performance 탭이 출발점.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확인 순서: 프레임 시간(16.7ms 예산) → 스크립트 vs 렌더링 비중 → GC 스파이크.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게임의 실측 감각: 물리+렌더 합계 1ms 미만 — 사실 최적화가 '불필요'하다.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장은 '더 큰 게임'을 만들 때를 위한 장비다.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13 · 성능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273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병목 후보 ① — 벡터 객체 할당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불변 Vec2: 연산마다 new — 프레임당 수백 개, 초당 수만 개의 단명 객체.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현대 JS 엔진의 세대별 GC는 단명 객체에 강하다 — 그래서 우리 규모는 무사.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그러나 입자 수천 개 규모면 GC 일시정지(수 ms)가 프레임 드랍으로 보인다.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대책 두 가지: 가변(mutable) API 추가, 또는 객체 풀링.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13 · 성능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274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가변 API — 할당 없는 핫패스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0E8"/>
                </a:solidFill>
                <a:latin typeface="Malgun Gothic"/>
              </a:rPr>
              <a:t>규칙: 기본은 불변, 프로파일러가 지목한 곳만 가변으로.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789920" cy="4526280"/>
          </a:xfrm>
          <a:prstGeom prst="rect">
            <a:avLst/>
          </a:prstGeom>
          <a:solidFill>
            <a:srgbClr val="0B0E1A"/>
          </a:solidFill>
          <a:ln w="12700">
            <a:solidFill>
              <a:srgbClr val="2A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// 불변(기존): 새 객체 반환 — 읽기 좋다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add(v) { return new Vec2(this.x + v.x, this.y + v.y); 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// 가변(추가): 자신을 수정 — 핫패스 전용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iadd(v)   { this.x += v.x; this.y += v.y; return this; 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iscale(s) { this.x *= s;  this.y *= s;  return this; 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5EE87F"/>
                </a:solidFill>
                <a:latin typeface="Consolas"/>
              </a:rPr>
              <a:t>// 핫패스 예: 적분 루프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8ECFF"/>
                </a:solidFill>
                <a:latin typeface="Consolas"/>
              </a:rPr>
              <a:t>this.vel.iadd(_tmp.set(GRAVITY).iscale(dt));  // 할당 0회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13 · 성능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275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병목 후보 ② — 충돌 검사 O(n)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매 서브스텝 × 충돌체 35개 = 프레임당 140회 검사 — 전혀 문제없다.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멀티볼 10개 + 충돌체 200개면 8000회/프레임 — 슬슬 구조가 필요하다.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공간 그리드: 화면을 셀(예: 64px)로 나누고 충돌체를 셀에 등록, 공이 있는 셀 주변만 검사.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핀볼류 정적 지형에는 '벽을 미리 셀에 굽는' 정적 그리드가 특히 효율적.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13 · 성능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276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병목 후보 ③ — 렌더링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정적 지형(벽·아치)을 매 프레임 다시 그리는 것이 가장 큰 낭비 후보.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레이어 캐싱: 오프스크린 캔버스에 지형을 1회 그려 두고 drawImage 한 방.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그라디언트 캐싱: 공 그라디언트를 매 프레임 생성 중 — 오프스크린 스프라이트로.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텍스트: fillText도 은근히 비싸다 — 점수가 바뀔 때만 갱신하는 캐시 고려.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13 · 성능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277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OffscreenCanvas와 더블 버퍼링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OffscreenCanvas: 화면 밖 캔버스. 지형 캐시, 워커 렌더링에 사용.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캔버스는 기본적으로 더블 버퍼링된다 — 깜빡임 걱정은 불필요.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Worker + OffscreenCanvas로 렌더링을 메인 스레드에서 분리하는 고급 기법도 존재.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게임엔 지형 캐시 하나만으로 충분한 이득.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13 · 성능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278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감쇠의 프레임률 독립화 — 미뤄둔 숙제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vel × 0.999를 '스텝마다' 곱하면 스텝 수가 바뀔 때 감쇠량이 달라진다.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올바른 식: vel × pow(0.999, dt×기준fps) — dt에 비례한 지수 감쇠.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60fps 고정 감각으로 튜닝했다면 pow(drag, dt*60).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교훈: '매 프레임 곱하기'류는 모두 dt 의존성을 의심하라.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13 · 성능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279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메모리와 로딩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 게임의 자산: 코드 약 18KB — 이미지·사운드 0. 로딩 최적화가 무의미한 수준.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사운드를 넣는다면: Web Audio API 버퍼를 미리 디코딩(첫 타격에서 끊기지 않게).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이미지 스프라이트를 쓴다면: 한 장의 아틀라스로 — drawImage 소스 지정.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13 · 성능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모바일 대응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터치 입력: 화면 좌/우 절반 터치 = 플리퍼, 하단 스와이프 = 발사.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DPR 처리(2장): 레티나에서 흐림 방지.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60fps 유지가 어려운 저가 기기: 서브스텝 2로 감소 + 속도 상한 하향 — 품질 스위치.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passive 이벤트 리스너, 300ms 탭 딜레이 등 모바일 특유의 함정 확인.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13 · 성능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281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과최적화 경계선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게임에서 하지 말아야 할 것: 그리드, 풀링, 워커 — 전부 과잉.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해도 좋은 것: 지형 레이어 캐시(코드 15줄, 명확한 이득).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판단 기준: '프로파일러가 지목했고, 코드 가독성 손실보다 이득이 큰가?'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가장 빠른 코드는 안 짠 코드다 — 단순함을 지키는 것도 성능 전략.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13 · 성능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282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13장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측정 → 병목 → 국소 수술. 추측 금지.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GC는 가변 API·풀링으로, 충돌 규모는 공간 그리드로, 렌더는 레이어 캐시로.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감쇠 같은 '프레임당 곱셈'은 pow(k, dt)로 프레임률 독립화.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우리 규모(35개 충돌체)에선 아무것도 필요 없다는 것 자체가 결론.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13 · 성능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283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B942"/>
                </a:solidFill>
                <a:latin typeface="Malgun Gothic"/>
              </a:rPr>
              <a:t>CHAPTER 14</a:t>
            </a:r>
          </a:p>
          <a:p>
            <a:pPr>
              <a:spcBef>
                <a:spcPts val="1400"/>
              </a:spcBef>
            </a:pPr>
            <a:r>
              <a:rPr sz="4000" b="1">
                <a:solidFill>
                  <a:srgbClr val="E8ECFF"/>
                </a:solidFill>
                <a:latin typeface="Malgun Gothic"/>
              </a:rPr>
              <a:t>확장 아이디어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9FB0E8"/>
                </a:solidFill>
                <a:latin typeface="Malgun Gothic"/>
              </a:rPr>
              <a:t>여기서 어디로든 — 10가지 발전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284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Chapter 14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멀티볼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사운드 — Web Audio API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파티클 이펙트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틸트(Tilt) 시스템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미션·콤보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로컬 랭킹 — localStorage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터치·게임패드 입력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08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테이블 에디터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09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물리 심화 — 스핀과 마찰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10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14장 요약 — 추천 학습 경로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14 · 확장 아이디어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285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멀티볼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구조는 이미 준비됨: Ball이 충돌을 모르므로 balls 배열로 바꾸고 루프만.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충돌 추가: 공-공 충돌은 원-원(7장)에 '둘 다 움직이는' 운동량 교환을 더한 것.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드레인 조건 변경: 마지막 공이 빠질 때만 공 소모.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잭팟 연출: 멀티볼 중 점수 2배 — addScore 한 곳만 고치면 된다(9장 설계의 보상).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14 · 확장 아이디어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286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사운드 — Web Audio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AudioContext 하나, 충돌 이벤트마다 짧은 버퍼 재생.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신디사이저 방식: 파일 없이 OscillatorNode로 '핑', '텅' 합성 — 용량 0 유지.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피치를 충돌 속도에 비례시키면 타격감이 급상승: 세게 맞을수록 높은 소리.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주의: 브라우저 정책상 첫 사용자 입력 후에만 AudioContext 시작 가능.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14 · 확장 아이디어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287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파티클 이펙트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충돌점에서 fromAngle(랜덤각, 랜덤속도)로 10~20개 입자 분사 — 5장 삼각함수 재활용.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각 입자는 미니 Ball: 중력 + 적분 + 수명(알파 페이드).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입자는 충돌 검사를 하지 않는다 — 장식은 물리에서 제외해 비용 절감.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여기서부터 객체 풀링(13장)이 실전 의미를 갖기 시작한다.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14 · 확장 아이디어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288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틸트(Tilt)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실제 핀볼의 '기계 흔들기'를 재현: T 키로 GRAVITY에 순간 수평 성분 추가.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남용 방지: 3회 누르면 TILT — 플리퍼 비활성화 + 현재 공 무효.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구현: 흔들기 카운터 + 쿨다운 타이머, 화면에 경고 표시.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물리 상수를 '실시간으로 조작'하는 첫 경험으로 좋은 과제.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14 · 확장 아이디어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289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미션·콤보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예: '범퍼 3개를 10초 안에 모두' → 성공 시 1000점 보너스.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구현 재료는 전부 있다: 충돌 이벤트(불리언 반환), 타이머 패턴(flash), addScore.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상태 추적 객체 하나 추가: { 목표, 진행, 남은시간 }.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게임 디자인 입문으로 최적 — 물리는 그대로 두고 '의미'만 얹는다.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14 · 확장 아이디어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290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로컬 랭킹 — localStorage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게임오버 시 점수를 localStorage의 JSON 배열에 저장, 상위 10개 유지.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이름 입력: prompt() 3글자 이니셜 — 고전 아케이드 감성.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주의: localStorage는 동기 API — 게임 루프 중이 아닌 게임오버 시점에만 접근.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다음 단계는 서버 랭킹이지만, 그건 '바닐라 JS 핀볼'의 범위를 벗어난다.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14 · 확장 아이디어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291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터치·게임패드 입력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터치: 화면 좌/우 반 터치 = 플리퍼. touchstart/touchend가 keydown/keyup과 대칭.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입력 추상화: pressed 플래그만 세우면 되므로 입력원을 얼마든지 추가 가능(3장 패턴의 보상).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게임패드: navigator.getGamepads()를 매 프레임 폴링 — 이벤트가 아니라 상태 방식.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숄더 버튼(L/R) = 플리퍼가 실기 감각과 가장 가깝다.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14 · 확장 아이디어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292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테이블 에디터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buildTable의 좌표들을 JSON으로 추출하는 것이 1단계(11장에서 예고).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2단계: 클릭으로 벽 정점을 찍는 에디터 모드 — 캔버스 클릭 좌표는 getBoundingClientRect로 보정.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3단계: JSON 내보내기/불러오기 — 친구와 테이블 교환.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데이터 주도 설계의 완성형 — 코드 수정 없이 무한 콘텐츠.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14 · 확장 아이디어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293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물리 심화 — 스핀과 마찰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현재 공은 회전하지 않는다. 각속도 ω_ball을 추가하면: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충돌 시 접선 방향 마찰이 스핀을 만들고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9FB0E8"/>
                </a:solidFill>
                <a:latin typeface="Malgun Gothic"/>
              </a:rPr>
              <a:t>–  </a:t>
            </a:r>
            <a:r>
              <a:rPr sz="1500" b="0">
                <a:solidFill>
                  <a:srgbClr val="9FB0E8"/>
                </a:solidFill>
                <a:latin typeface="Malgun Gothic"/>
              </a:rPr>
              <a:t>스핀이 다음 충돌의 반사각을 비튼다 — '커브'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Vec2.cross(4장에서 예비해 둔 그 연산)가 드디어 등판하는 순간.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마그누스 효과(공기 중 커브)까지 가면 축구·야구 게임 물리와 만난다.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14 · 확장 아이디어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294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14장 요약 — 추천 학습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쉬움: 사운드 → 파티클 → 랭킹 (물리 무관, 즉시 만족).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중간: 멀티볼 → 틸트 → 미션 (기존 구조의 보상 체험).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어려움: 에디터 → 스핀 물리 (설계와 수학의 확장).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순서 무관 단 하나의 규칙: 한 번에 하나씩, 매번 플레이 가능한 상태 유지.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14 · 확장 아이디어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295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B942"/>
                </a:solidFill>
                <a:latin typeface="Malgun Gothic"/>
              </a:rPr>
              <a:t>CHAPTER 15</a:t>
            </a:r>
          </a:p>
          <a:p>
            <a:pPr>
              <a:spcBef>
                <a:spcPts val="1400"/>
              </a:spcBef>
            </a:pPr>
            <a:r>
              <a:rPr sz="4000" b="1">
                <a:solidFill>
                  <a:srgbClr val="E8ECFF"/>
                </a:solidFill>
                <a:latin typeface="Malgun Gothic"/>
              </a:rPr>
              <a:t>마무리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9FB0E8"/>
                </a:solidFill>
                <a:latin typeface="Malgun Gothic"/>
              </a:rPr>
              <a:t>배운 것, 그리고 다음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296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Chapter 15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01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우리가 만든 것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02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핵심 수학 요약 ① — 벡터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03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핵심 수학 요약 ② — 삼각함수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04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핵심 수학 요약 ③ — 물리와 충돌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05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아키텍처 회고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06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더 공부할 거리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B942"/>
                </a:solidFill>
                <a:latin typeface="Consolas"/>
              </a:rPr>
              <a:t>07  </a:t>
            </a:r>
            <a:r>
              <a:rPr sz="1300" b="0">
                <a:solidFill>
                  <a:srgbClr val="E8ECFF"/>
                </a:solidFill>
                <a:latin typeface="Malgun Gothic"/>
              </a:rPr>
              <a:t>체크리스트 — 스스로 점검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15 ·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297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우리가 만든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외부 의존성 0, 단일 HTML 파일, 약 500줄의 완전한 핀볼 게임.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직접 구현한 것: 벡터 라이브러리, 물리 적분기, 충돌 시스템, 회전체 역학, 게임 루프.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즉, '미니 물리 엔진'을 밑바닥부터 만든 것이다 — matter.js의 축소판.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이제 물리 엔진을 '쓸' 때도 내부에서 무슨 일이 일어나는지 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15 ·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298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핵심 수학 요약 ① — 벡터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뺄셈 = 도착지 − 출발지 = 방향.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내적 = 투영과 각도의 만능 도구. 부호로 접근/이탈 판정.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정규화 = 방향과 크기의 분리 (0벡터 주의).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반사 v' = v − (1+e)(v·n̂)n̂ — 이 한 줄이 게임의 심장.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15 ·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299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핵심 수학 요약 ② — 삼각함수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(cosθ, sinθ) = 단위원 위의 점 = 각도의 좌표화.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tip = pivot + L(cosθ, sinθ) — 모든 회전체의 공식.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곡선 = 삼각함수로 뽑은 점 + 선분 근사.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v = ω·perp(r) — 회전이 만드는 속도. 플리퍼 타격의 정체.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15 ·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300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핵심 수학 요약 ③ — 물리와 충돌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반암시적 오일러: v += a·dt → p += v·dt.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충돌 4박자: 감지 → 법선 → 침투 해소 → 반사.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최근접점 = 투영 + clamp — 원-선분 충돌의 열쇠.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움직이는 표면 = 상대속도로 반사 후 복귀.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터널링 = 속도 상한 + 서브스텝으로 제압.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15 ·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301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아키텍처 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한 파일이지만 구역이 명확: 수학 → 상수 → 오브젝트 → 게임.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다시 만든다면 바꿀 것: 좌표 데이터의 JSON 분리, 감쇠의 dt 독립화.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다시 만들어도 지킬 것: 불변 벡터, update/render 분리, 충돌 4박자, 수치 가드 5종.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좋은 아키텍처란 '확장 요구(14장)가 왔을 때 고칠 곳이 한 군데인 것'이었다.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15 ·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302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더 공부할 거리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게임 물리 일반: 'Game Physics Engine Development' (Ian Millington).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충돌 알고리즘 대전: 'Real-Time Collision Detection' (Christer Ericson).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고정 timestep 논쟁: 'Fix Your Timestep!' (Glenn Fiedler의 고전 아티클).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실전 엔진 코드 읽기: matter.js(2D), rapier(Rust/WASM) 소스.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그리고 최고의 교재: 직접 만든 이 게임을 부수고 고쳐 보는 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15 ·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303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ECFF"/>
                </a:solidFill>
                <a:latin typeface="Malgun Gothic"/>
              </a:rPr>
              <a:t>체크리스트 — 스스로 점검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□ 반사 공식을 유도할 수 있다 (속도 분해 → 법선 반전 → e).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□ 최근접점 공식의 clamp가 왜 모서리를 처리하는지 설명할 수 있다.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□ 플리퍼 타격이 왜 반발계수가 아니라 ω에서 나오는지 안다.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□ NaN이 어디서 태어나 어떻게 퍼지는지, 가드 5종을 나열할 수 있다.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□ 서브스텝이 터널링을 줄이는 이유를 수치(px/스텝)로 말할 수 있다.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5B8CFF"/>
                </a:solidFill>
                <a:latin typeface="Malgun Gothic"/>
              </a:rPr>
              <a:t>•  </a:t>
            </a:r>
            <a:r>
              <a:rPr sz="1700" b="0">
                <a:solidFill>
                  <a:srgbClr val="E8ECFF"/>
                </a:solidFill>
                <a:latin typeface="Malgun Gothic"/>
              </a:rPr>
              <a:t>다섯 개 모두 체크되면 — 당신은 이제 2D 물리 게임을 만들 줄 아는 사람이다.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0E8"/>
                </a:solidFill>
                <a:latin typeface="Malgun Gothic"/>
              </a:rPr>
              <a:t>바닐라 JS Canvas 핀볼 게임 만들기  ·  Chapter 15 ·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0E8"/>
                </a:solidFill>
                <a:latin typeface="Malgun Gothic"/>
              </a:rPr>
              <a:t>304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E8ECFF"/>
                </a:solidFill>
                <a:latin typeface="Malgun Gothic"/>
              </a:rPr>
              <a:t>수고하셨습니다!</a:t>
            </a:r>
          </a:p>
          <a:p>
            <a:r>
              <a:rPr sz="2200" b="0">
                <a:solidFill>
                  <a:srgbClr val="5B8CFF"/>
                </a:solidFill>
                <a:latin typeface="Malgun Gothic"/>
              </a:rPr>
              <a:t>이제 여러분만의 핀볼 테이블을 설계할 차례입니다.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9FB0E8"/>
                </a:solidFill>
                <a:latin typeface="Malgun Gothic"/>
              </a:rPr>
              <a:t>전체 코드: pinball.html — 브라우저에서 열면 바로 플레이 가능</a:t>
            </a:r>
          </a:p>
          <a:p>
            <a:r>
              <a:rPr sz="1500" b="0">
                <a:solidFill>
                  <a:srgbClr val="9FB0E8"/>
                </a:solidFill>
                <a:latin typeface="Malgun Gothic"/>
              </a:rPr>
              <a:t>핵심 공식: v' = v − (1+e)(v·n)n  ·  tip = pivot + L(cosθ, sinθ)  ·  v_surface = ω·perp(r)</a:t>
            </a:r>
          </a:p>
          <a:p>
            <a:r>
              <a:rPr sz="1500" b="0">
                <a:solidFill>
                  <a:srgbClr val="9FB0E8"/>
                </a:solidFill>
                <a:latin typeface="Malgun Gothic"/>
              </a:rPr>
              <a:t>질문과 확장 아이디어는 Chapter 14를 참고하세요.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